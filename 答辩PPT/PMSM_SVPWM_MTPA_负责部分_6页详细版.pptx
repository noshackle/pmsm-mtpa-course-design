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84831" y="0"/>
            <a:ext cx="1664208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21408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5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9824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公式汇总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2447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0392"/>
            <a:ext cx="106984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1A1F2B"/>
                </a:solidFill>
                <a:latin typeface="微软雅黑"/>
              </a:defRPr>
            </a:pPr>
            <a:r>
              <a:t>永磁同步电机（PMSM）结构、分类与用途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44752"/>
            <a:ext cx="406908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444752"/>
            <a:ext cx="50292" cy="23317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536192"/>
            <a:ext cx="37947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结构认知</a:t>
            </a:r>
          </a:p>
        </p:txBody>
      </p:sp>
      <p:pic>
        <p:nvPicPr>
          <p:cNvPr id="18" name="Picture 17" descr="pmsm_cuta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59120"/>
            <a:ext cx="1828799" cy="12732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70048" y="1783080"/>
            <a:ext cx="1627632" cy="1481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69">
                <a:solidFill>
                  <a:srgbClr val="1A1F2B"/>
                </a:solidFill>
                <a:latin typeface="微软雅黑"/>
              </a:defRPr>
            </a:pPr>
            <a:r>
              <a:t>定子：三相对称绕组，空间互差 120° 电角度。</a:t>
            </a:r>
          </a:p>
          <a:p>
            <a:pPr>
              <a:spcAft>
                <a:spcPts val="100"/>
              </a:spcAft>
              <a:defRPr sz="869">
                <a:solidFill>
                  <a:srgbClr val="1A1F2B"/>
                </a:solidFill>
                <a:latin typeface="微软雅黑"/>
              </a:defRPr>
            </a:pPr>
            <a:r>
              <a:t>转子：永磁体提供励磁磁链 ψ_f，省去励磁绕组。</a:t>
            </a:r>
          </a:p>
          <a:p>
            <a:pPr>
              <a:spcAft>
                <a:spcPts val="100"/>
              </a:spcAft>
              <a:defRPr sz="869">
                <a:solidFill>
                  <a:srgbClr val="1A1F2B"/>
                </a:solidFill>
                <a:latin typeface="微软雅黑"/>
              </a:defRPr>
            </a:pPr>
            <a:r>
              <a:t>电角度与机械角度：θₑ=pθₘ，ωₑ=pωₘ。</a:t>
            </a:r>
          </a:p>
          <a:p>
            <a:pPr>
              <a:spcAft>
                <a:spcPts val="100"/>
              </a:spcAft>
              <a:defRPr sz="869">
                <a:solidFill>
                  <a:srgbClr val="1A1F2B"/>
                </a:solidFill>
                <a:latin typeface="微软雅黑"/>
              </a:defRPr>
            </a:pPr>
            <a:r>
              <a:t>MathWorks PMSM 模型按三相定子绕组和永磁体转子描述，默认正弦反电势。</a:t>
            </a:r>
          </a:p>
        </p:txBody>
      </p:sp>
      <p:pic>
        <p:nvPicPr>
          <p:cNvPr id="20" name="Picture 19" descr="flu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191035"/>
            <a:ext cx="3383279" cy="15588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800600" y="1444752"/>
            <a:ext cx="681228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00600" y="1444752"/>
            <a:ext cx="50292" cy="23317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536192"/>
            <a:ext cx="6537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SPMSM / IPMSM 对比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74920" y="1938528"/>
          <a:ext cx="6263640" cy="14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423160"/>
                <a:gridCol w="2697480"/>
              </a:tblGrid>
              <a:tr h="288950"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SPMSM（表贴式）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IPMSM（内嵌式）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永磁体位置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转子表面粘贴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转子内部嵌入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电感关系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Ld≈Lq，隐极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Ld&lt;Lq，凸极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转矩来源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主要为永磁转矩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永磁转矩 + 磁阻转矩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88952"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结构简单、控制直观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高速、高功率密度驱动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02920" y="4041648"/>
            <a:ext cx="11109960" cy="1481328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41648"/>
            <a:ext cx="50292" cy="14813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33087"/>
            <a:ext cx="10835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应用与控制铺垫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480560"/>
            <a:ext cx="978408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A1F2B"/>
                </a:solidFill>
                <a:latin typeface="微软雅黑"/>
              </a:defRPr>
            </a:pPr>
            <a:r>
              <a:t>典型应用：新能源汽车主驱、伺服系统、工业调速和高效率家电。</a:t>
            </a:r>
          </a:p>
          <a:p>
            <a:pPr>
              <a:spcAft>
                <a:spcPts val="100"/>
              </a:spcAft>
              <a:defRPr sz="1019">
                <a:solidFill>
                  <a:srgbClr val="1A1F2B"/>
                </a:solidFill>
                <a:latin typeface="微软雅黑"/>
              </a:defRPr>
            </a:pPr>
            <a:r>
              <a:t>IPMSM 的磁阻转矩可由负 d 轴电流利用，因此适合 MTPA 最优电流分配。</a:t>
            </a:r>
          </a:p>
          <a:p>
            <a:pPr>
              <a:spcAft>
                <a:spcPts val="100"/>
              </a:spcAft>
              <a:defRPr sz="1019">
                <a:solidFill>
                  <a:srgbClr val="1A1F2B"/>
                </a:solidFill>
                <a:latin typeface="微软雅黑"/>
              </a:defRPr>
            </a:pPr>
            <a:r>
              <a:t>控制链路最终把 dq 电压指令经反 Park 转到 αβ，再由 SVPWM 生成逆变器 PWM。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742432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720" b="0">
                <a:solidFill>
                  <a:srgbClr val="677285"/>
                </a:solidFill>
                <a:latin typeface="微软雅黑"/>
              </a:defRPr>
            </a:pPr>
            <a:r>
              <a:t>参考：MathWorks Permanent Magnet Synchronous Machine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1408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0"/>
            <a:ext cx="1664208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85615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9824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公式汇总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2447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0392"/>
            <a:ext cx="106984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1A1F2B"/>
                </a:solidFill>
                <a:latin typeface="微软雅黑"/>
              </a:defRPr>
            </a:pPr>
            <a:r>
              <a:t>Clark / Park 坐标变换：矩阵、方向与功率关系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17320"/>
            <a:ext cx="3703320" cy="21214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417320"/>
            <a:ext cx="50292" cy="212140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508760"/>
            <a:ext cx="3429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Clark：abc → αβ0（幅值不变）</a:t>
            </a:r>
          </a:p>
        </p:txBody>
      </p:sp>
      <p:pic>
        <p:nvPicPr>
          <p:cNvPr id="18" name="Picture 17" descr="cl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95" y="1810512"/>
            <a:ext cx="2685233" cy="841247"/>
          </a:xfrm>
          <a:prstGeom prst="rect">
            <a:avLst/>
          </a:prstGeom>
        </p:spPr>
      </p:pic>
      <p:pic>
        <p:nvPicPr>
          <p:cNvPr id="19" name="Picture 18" descr="clark_in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668" y="2651760"/>
            <a:ext cx="1840687" cy="65836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434840" y="1417320"/>
            <a:ext cx="3703320" cy="21214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1417320"/>
            <a:ext cx="50292" cy="212140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508760"/>
            <a:ext cx="3429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Park：αβ0 ↔ dq0</a:t>
            </a:r>
          </a:p>
        </p:txBody>
      </p:sp>
      <p:pic>
        <p:nvPicPr>
          <p:cNvPr id="23" name="Picture 22" descr="p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2198179"/>
            <a:ext cx="3291840" cy="4408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81728" y="3127248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80" b="0">
                <a:solidFill>
                  <a:srgbClr val="677285"/>
                </a:solidFill>
                <a:latin typeface="微软雅黑"/>
              </a:defRPr>
            </a:pPr>
            <a:r>
              <a:t>dq 旋转坐标随 θₑ 转动，正弦量在 dq 下近似为直流量。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1417320"/>
            <a:ext cx="3246120" cy="21214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1417320"/>
            <a:ext cx="50292" cy="212140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508760"/>
            <a:ext cx="2971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坐标方向示意</a:t>
            </a:r>
          </a:p>
        </p:txBody>
      </p:sp>
      <p:pic>
        <p:nvPicPr>
          <p:cNvPr id="28" name="Picture 27" descr="abc_ab_dq_ax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1785861"/>
            <a:ext cx="2834640" cy="13843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49640" y="3200400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00" b="0">
                <a:solidFill>
                  <a:srgbClr val="677285"/>
                </a:solidFill>
                <a:latin typeface="微软雅黑"/>
              </a:defRPr>
            </a:pPr>
            <a:r>
              <a:t>A/B/C 轴相差 120°；图中 q 轴超前 d 轴 90°，αβ 为静止坐标。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840480"/>
            <a:ext cx="11109960" cy="1417320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840480"/>
            <a:ext cx="50292" cy="14173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31920"/>
            <a:ext cx="10835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功率不变性与控制意义</a:t>
            </a:r>
          </a:p>
        </p:txBody>
      </p:sp>
      <p:pic>
        <p:nvPicPr>
          <p:cNvPr id="33" name="Picture 32" descr="pow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250424"/>
            <a:ext cx="6675120" cy="53342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72400" y="4224528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80">
                <a:solidFill>
                  <a:srgbClr val="1A1F2B"/>
                </a:solidFill>
                <a:latin typeface="微软雅黑"/>
              </a:defRPr>
            </a:pPr>
            <a:r>
              <a:t>幅值不变 Clark 下，三相功率需乘 3/2 系数。</a:t>
            </a:r>
          </a:p>
          <a:p>
            <a:pPr>
              <a:spcAft>
                <a:spcPts val="100"/>
              </a:spcAft>
              <a:defRPr sz="880">
                <a:solidFill>
                  <a:srgbClr val="1A1F2B"/>
                </a:solidFill>
                <a:latin typeface="微软雅黑"/>
              </a:defRPr>
            </a:pPr>
            <a:r>
              <a:t>Park 是平面旋转，保持 αβ 内积不变，因此功率可写成 dq 形式。</a:t>
            </a:r>
          </a:p>
          <a:p>
            <a:pPr>
              <a:spcAft>
                <a:spcPts val="100"/>
              </a:spcAft>
              <a:defRPr sz="880">
                <a:solidFill>
                  <a:srgbClr val="1A1F2B"/>
                </a:solidFill>
                <a:latin typeface="微软雅黑"/>
              </a:defRPr>
            </a:pPr>
            <a:r>
              <a:t>这一关系支撑电流环、MTPA 给定和 SVPWM 电压指令的统一建模。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577840"/>
            <a:ext cx="5760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720" b="0">
                <a:solidFill>
                  <a:srgbClr val="677285"/>
                </a:solidFill>
                <a:latin typeface="微软雅黑"/>
              </a:defRPr>
            </a:pPr>
            <a:r>
              <a:t>参考：MathWorks Alpha-Beta-Zero to dq0 / dq0 to Alpha-Beta-Zero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1408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5615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3248" y="0"/>
            <a:ext cx="1664208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9824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公式汇总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2447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0392"/>
            <a:ext cx="106984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1A1F2B"/>
                </a:solidFill>
                <a:latin typeface="微软雅黑"/>
              </a:defRPr>
            </a:pPr>
            <a:r>
              <a:t>PMSM dq 轴数学模型：电压、磁链、转矩与反电动势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17320"/>
            <a:ext cx="580644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417320"/>
            <a:ext cx="50292" cy="1874519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508760"/>
            <a:ext cx="5532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dq 电压方程（含耦合项）</a:t>
            </a:r>
          </a:p>
        </p:txBody>
      </p:sp>
      <p:pic>
        <p:nvPicPr>
          <p:cNvPr id="18" name="Picture 17" descr="vol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16" y="1810512"/>
            <a:ext cx="4754367" cy="9418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384" y="2798064"/>
            <a:ext cx="52120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60">
                <a:solidFill>
                  <a:srgbClr val="C93A3A"/>
                </a:solidFill>
                <a:latin typeface="微软雅黑"/>
              </a:defRPr>
            </a:pPr>
            <a:r>
              <a:t>−ωₑL_qi_q 串入 d 轴；+ωₑ(L_di_d+ψ_f) 串入 q 轴。</a:t>
            </a:r>
          </a:p>
          <a:p>
            <a:pPr>
              <a:spcAft>
                <a:spcPts val="100"/>
              </a:spcAft>
              <a:defRPr sz="860">
                <a:solidFill>
                  <a:srgbClr val="C93A3A"/>
                </a:solidFill>
                <a:latin typeface="微软雅黑"/>
              </a:defRPr>
            </a:pPr>
            <a:r>
              <a:t>转速越高，耦合和反电动势越强，电流环越需要前馈补偿。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417320"/>
            <a:ext cx="507492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1417320"/>
            <a:ext cx="50292" cy="1874519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508760"/>
            <a:ext cx="4800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磁链与反电动势</a:t>
            </a:r>
          </a:p>
        </p:txBody>
      </p:sp>
      <p:pic>
        <p:nvPicPr>
          <p:cNvPr id="23" name="Picture 22" descr="flu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977036"/>
            <a:ext cx="4480560" cy="2064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12280" y="2468880"/>
            <a:ext cx="443484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80">
                <a:solidFill>
                  <a:srgbClr val="1A1F2B"/>
                </a:solidFill>
                <a:latin typeface="微软雅黑"/>
              </a:defRPr>
            </a:pPr>
            <a:r>
              <a:t>ψ_f 为永磁体磁链，E₀ 随电角速度线性增大。</a:t>
            </a:r>
          </a:p>
          <a:p>
            <a:pPr>
              <a:spcAft>
                <a:spcPts val="100"/>
              </a:spcAft>
              <a:defRPr sz="880">
                <a:solidFill>
                  <a:srgbClr val="1A1F2B"/>
                </a:solidFill>
                <a:latin typeface="微软雅黑"/>
              </a:defRPr>
            </a:pPr>
            <a:r>
              <a:t>当反电动势接近直流母线可用电压时，进入弱磁控制区域。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547872"/>
            <a:ext cx="580644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547872"/>
            <a:ext cx="50292" cy="173736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39312"/>
            <a:ext cx="5532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电磁转矩方程</a:t>
            </a:r>
          </a:p>
        </p:txBody>
      </p:sp>
      <p:pic>
        <p:nvPicPr>
          <p:cNvPr id="28" name="Picture 27" descr="torq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944" y="3950208"/>
            <a:ext cx="2406670" cy="8686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86384" y="4901184"/>
            <a:ext cx="52120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19" b="0">
                <a:solidFill>
                  <a:srgbClr val="677285"/>
                </a:solidFill>
                <a:latin typeface="微软雅黑"/>
              </a:defRPr>
            </a:pPr>
            <a:r>
              <a:t>SPMSM：Ld≈Lq，磁阻转矩项近似为 0；IPMSM：Ld&lt;Lq，负 id 可产生正磁阻转矩。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547872"/>
            <a:ext cx="50749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3547872"/>
            <a:ext cx="50292" cy="173736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639312"/>
            <a:ext cx="4800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功率分解与机械功率</a:t>
            </a:r>
          </a:p>
        </p:txBody>
      </p:sp>
      <p:pic>
        <p:nvPicPr>
          <p:cNvPr id="33" name="Picture 32" descr="power_spl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4099340"/>
            <a:ext cx="4526280" cy="41496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12280" y="4782312"/>
            <a:ext cx="43434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19" b="0">
                <a:solidFill>
                  <a:srgbClr val="C93A3A"/>
                </a:solidFill>
                <a:latin typeface="微软雅黑"/>
              </a:defRPr>
            </a:pPr>
            <a:r>
              <a:t>注意：Te 是机械轴上的电磁转矩，故 Pe=Te·ωm=Te·ωe/p，不能直接写成 Te·ωe。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57784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720" b="0">
                <a:solidFill>
                  <a:srgbClr val="677285"/>
                </a:solidFill>
                <a:latin typeface="微软雅黑"/>
              </a:defRPr>
            </a:pPr>
            <a:r>
              <a:t>参考：MathWorks Permanent Magnet Synchronous Machine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1408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5615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9824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7077456" y="0"/>
            <a:ext cx="1664208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2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公式汇总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2447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0392"/>
            <a:ext cx="106984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1A1F2B"/>
                </a:solidFill>
                <a:latin typeface="微软雅黑"/>
              </a:defRPr>
            </a:pPr>
            <a:r>
              <a:t>控制链路：MTPA → 电流环 → 解耦补偿 → 反 Park → SVPWM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371600"/>
            <a:ext cx="653796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371600"/>
            <a:ext cx="50292" cy="146304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463040"/>
            <a:ext cx="6263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速度外环与 MTPA 给定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1874519"/>
            <a:ext cx="530352" cy="402336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1943100"/>
            <a:ext cx="47548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ωref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362456" y="2002536"/>
            <a:ext cx="182880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4480" y="1874519"/>
            <a:ext cx="402336" cy="402336"/>
          </a:xfrm>
          <a:prstGeom prst="roundRect">
            <a:avLst/>
          </a:prstGeom>
          <a:solidFill>
            <a:srgbClr val="C9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81912" y="1943100"/>
            <a:ext cx="34747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⊕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002536" y="2002536"/>
            <a:ext cx="182880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23160" y="1874519"/>
            <a:ext cx="777240" cy="402336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0591" y="1943100"/>
            <a:ext cx="722376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速度 PI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46120" y="2002536"/>
            <a:ext cx="182880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83280" y="1874519"/>
            <a:ext cx="566928" cy="402336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1943100"/>
            <a:ext cx="512064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Te*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995928" y="2002536"/>
            <a:ext cx="182880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15968" y="1874519"/>
            <a:ext cx="804672" cy="402336"/>
          </a:xfrm>
          <a:prstGeom prst="round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1943100"/>
            <a:ext cx="74980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MTPA</a:t>
            </a:r>
            <a:br/>
            <a:r>
              <a:t>LUT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66359" y="2002536"/>
            <a:ext cx="182880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40680" y="1874519"/>
            <a:ext cx="822960" cy="402336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68112" y="1943100"/>
            <a:ext cx="768096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id*,iq*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404872"/>
            <a:ext cx="5623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00" b="0">
                <a:solidFill>
                  <a:srgbClr val="677285"/>
                </a:solidFill>
                <a:latin typeface="微软雅黑"/>
              </a:defRPr>
            </a:pPr>
            <a:r>
              <a:t>SPMSM 常取 id*=0；IPMSM 由 MTPA 表分配负 d 轴电流以利用磁阻转矩。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1371600"/>
            <a:ext cx="4343400" cy="1463040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9480" y="1371600"/>
            <a:ext cx="50292" cy="146304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1463040"/>
            <a:ext cx="4069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反馈回路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1755648"/>
            <a:ext cx="3749039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30">
                <a:solidFill>
                  <a:srgbClr val="1A1F2B"/>
                </a:solidFill>
                <a:latin typeface="微软雅黑"/>
              </a:defRPr>
            </a:pPr>
            <a:r>
              <a:t>ia, ib, ic → Clarke → iα, iβ → Park → id, iq</a:t>
            </a:r>
          </a:p>
          <a:p>
            <a:pPr>
              <a:spcAft>
                <a:spcPts val="100"/>
              </a:spcAft>
              <a:defRPr sz="830">
                <a:solidFill>
                  <a:srgbClr val="1A1F2B"/>
                </a:solidFill>
                <a:latin typeface="微软雅黑"/>
              </a:defRPr>
            </a:pPr>
            <a:r>
              <a:t>θe ← 编码器 / 电机模型</a:t>
            </a:r>
          </a:p>
          <a:p>
            <a:pPr>
              <a:spcAft>
                <a:spcPts val="100"/>
              </a:spcAft>
              <a:defRPr sz="830">
                <a:solidFill>
                  <a:srgbClr val="1A1F2B"/>
                </a:solidFill>
                <a:latin typeface="微软雅黑"/>
              </a:defRPr>
            </a:pPr>
            <a:r>
              <a:t>ωm ← 对 θe 微分或直接测量，并反馈到速度比较点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999232"/>
            <a:ext cx="516636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2999232"/>
            <a:ext cx="50292" cy="14813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090672"/>
            <a:ext cx="48920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电流双闭环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3511296"/>
            <a:ext cx="713232" cy="402336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357987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id* − id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600200" y="3639312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74519" y="3511296"/>
            <a:ext cx="868680" cy="402336"/>
          </a:xfrm>
          <a:prstGeom prst="roundRect">
            <a:avLst/>
          </a:prstGeom>
          <a:solidFill>
            <a:srgbClr val="E5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01951" y="3579876"/>
            <a:ext cx="813815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电流 PI_d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2816352" y="3639312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127248" y="3511296"/>
            <a:ext cx="713232" cy="402336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54679" y="357987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ud,PI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3968496"/>
            <a:ext cx="713232" cy="402336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" y="403707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iq* − iq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1600200" y="4096512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874519" y="3968496"/>
            <a:ext cx="868680" cy="402336"/>
          </a:xfrm>
          <a:prstGeom prst="roundRect">
            <a:avLst/>
          </a:prstGeom>
          <a:solidFill>
            <a:srgbClr val="E5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01951" y="4037076"/>
            <a:ext cx="813815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电流 PI_q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2816352" y="4096512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127248" y="3968496"/>
            <a:ext cx="713232" cy="402336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54679" y="403707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uq,PI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77639" y="3675887"/>
            <a:ext cx="13258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00" b="0">
                <a:solidFill>
                  <a:srgbClr val="677285"/>
                </a:solidFill>
                <a:latin typeface="微软雅黑"/>
              </a:defRPr>
            </a:pPr>
            <a:r>
              <a:t>id、iq 来自反馈回路的 Park 变换输出。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7880" y="2999232"/>
            <a:ext cx="571500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97880" y="2999232"/>
            <a:ext cx="50292" cy="14813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0760" y="3090672"/>
            <a:ext cx="5440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前馈解耦补偿 → 反变换 → 调制</a:t>
            </a:r>
          </a:p>
        </p:txBody>
      </p:sp>
      <p:pic>
        <p:nvPicPr>
          <p:cNvPr id="63" name="Picture 62" descr="decouple_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472380"/>
            <a:ext cx="3474720" cy="242422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199632" y="3968496"/>
            <a:ext cx="749808" cy="402336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27064" y="4037076"/>
            <a:ext cx="694944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反 Park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7040880" y="4096512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333488" y="3968496"/>
            <a:ext cx="822960" cy="402336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60919" y="4037076"/>
            <a:ext cx="768096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uα*,uβ*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8247888" y="4096512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549640" y="3968496"/>
            <a:ext cx="749808" cy="402336"/>
          </a:xfrm>
          <a:prstGeom prst="round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77072" y="4037076"/>
            <a:ext cx="694944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SVPWM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9400032" y="4096512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710928" y="3968496"/>
            <a:ext cx="822960" cy="402336"/>
          </a:xfrm>
          <a:prstGeom prst="round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38359" y="4037076"/>
            <a:ext cx="768096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Da,Db,Dc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10625328" y="4096512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863072" y="3895344"/>
            <a:ext cx="640080" cy="402336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90504" y="3963924"/>
            <a:ext cx="585215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微软雅黑"/>
              </a:defRPr>
            </a:pPr>
            <a:r>
              <a:t>逆变器</a:t>
            </a:r>
            <a:br/>
            <a:r>
              <a:t>PMSM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617720"/>
            <a:ext cx="63550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2920" y="4617720"/>
            <a:ext cx="50292" cy="10241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709159"/>
            <a:ext cx="60807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环节输入/输出/作用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6384" y="4956048"/>
            <a:ext cx="55778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780">
                <a:solidFill>
                  <a:srgbClr val="1A1F2B"/>
                </a:solidFill>
                <a:latin typeface="微软雅黑"/>
              </a:defRPr>
            </a:pPr>
            <a:r>
              <a:t>速度 PI：ωref − ωm → Te*，外环给出转矩需求。</a:t>
            </a:r>
          </a:p>
          <a:p>
            <a:pPr>
              <a:spcAft>
                <a:spcPts val="100"/>
              </a:spcAft>
              <a:defRPr sz="780">
                <a:solidFill>
                  <a:srgbClr val="1A1F2B"/>
                </a:solidFill>
                <a:latin typeface="微软雅黑"/>
              </a:defRPr>
            </a:pPr>
            <a:r>
              <a:t>MTPA：Te* → id*, iq*，按最优电流轨迹分配双轴电流。</a:t>
            </a:r>
          </a:p>
          <a:p>
            <a:pPr>
              <a:spcAft>
                <a:spcPts val="100"/>
              </a:spcAft>
              <a:defRPr sz="780">
                <a:solidFill>
                  <a:srgbClr val="1A1F2B"/>
                </a:solidFill>
                <a:latin typeface="微软雅黑"/>
              </a:defRPr>
            </a:pPr>
            <a:r>
              <a:t>电流 PI：id/iq 误差 → ud,PI / uq,PI，负责双内环跟踪。</a:t>
            </a:r>
          </a:p>
          <a:p>
            <a:pPr>
              <a:spcAft>
                <a:spcPts val="100"/>
              </a:spcAft>
              <a:defRPr sz="780">
                <a:solidFill>
                  <a:srgbClr val="1A1F2B"/>
                </a:solidFill>
                <a:latin typeface="微软雅黑"/>
              </a:defRPr>
            </a:pPr>
            <a:r>
              <a:t>解耦 + SVPWM：ud,PI / uq,PI / θe → Da,Db,Dc，输出三相占空比。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86600" y="4617720"/>
            <a:ext cx="45262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617720"/>
            <a:ext cx="50292" cy="10241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69480" y="4709159"/>
            <a:ext cx="4251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约束</a:t>
            </a:r>
          </a:p>
        </p:txBody>
      </p:sp>
      <p:pic>
        <p:nvPicPr>
          <p:cNvPr id="85" name="Picture 84" descr="lim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5059323"/>
            <a:ext cx="3931920" cy="2049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1408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5615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9824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2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0"/>
            <a:ext cx="1664208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公式汇总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2447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0392"/>
            <a:ext cx="106984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1A1F2B"/>
                </a:solidFill>
                <a:latin typeface="微软雅黑"/>
              </a:defRPr>
            </a:pPr>
            <a:r>
              <a:t>核心公式汇总：坐标、模型、转矩、约束与弱磁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389888"/>
            <a:ext cx="37033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389888"/>
            <a:ext cx="50292" cy="14173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481328"/>
            <a:ext cx="3429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坐标与功率</a:t>
            </a:r>
          </a:p>
        </p:txBody>
      </p:sp>
      <p:pic>
        <p:nvPicPr>
          <p:cNvPr id="18" name="Picture 17" descr="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20380"/>
            <a:ext cx="3200400" cy="25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8096" y="2359152"/>
            <a:ext cx="306324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00" b="0">
                <a:solidFill>
                  <a:srgbClr val="677285"/>
                </a:solidFill>
                <a:latin typeface="微软雅黑"/>
              </a:defRPr>
            </a:pPr>
            <a:r>
              <a:t>θₑ=pθₘ，ωₑ=pωₘ；幅值不变变换下功率系数为 3/2。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389888"/>
            <a:ext cx="34290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1389888"/>
            <a:ext cx="50292" cy="14173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481328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PMSM dq 模型</a:t>
            </a:r>
          </a:p>
        </p:txBody>
      </p:sp>
      <p:pic>
        <p:nvPicPr>
          <p:cNvPr id="23" name="Picture 22" descr="volt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817909"/>
            <a:ext cx="2971800" cy="5887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45152" y="2450592"/>
            <a:ext cx="28803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00" b="0">
                <a:solidFill>
                  <a:srgbClr val="677285"/>
                </a:solidFill>
                <a:latin typeface="微软雅黑"/>
              </a:defRPr>
            </a:pPr>
            <a:r>
              <a:t>耦合项随 ωₑ 增强，是前馈解耦的来源。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389888"/>
            <a:ext cx="35204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1389888"/>
            <a:ext cx="50292" cy="14173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1481328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转矩与功率</a:t>
            </a:r>
          </a:p>
        </p:txBody>
      </p:sp>
      <p:pic>
        <p:nvPicPr>
          <p:cNvPr id="28" name="Picture 27" descr="torq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0658" y="1783080"/>
            <a:ext cx="1824003" cy="6583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66760" y="2487168"/>
            <a:ext cx="2926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00" b="0">
                <a:solidFill>
                  <a:srgbClr val="677285"/>
                </a:solidFill>
                <a:latin typeface="微软雅黑"/>
              </a:defRPr>
            </a:pPr>
            <a:r>
              <a:t>IPMSM 的磁阻转矩项决定 MTPA 分配。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90672"/>
            <a:ext cx="557784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090672"/>
            <a:ext cx="50292" cy="14813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82112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约束与弱磁边界</a:t>
            </a:r>
          </a:p>
        </p:txBody>
      </p:sp>
      <p:pic>
        <p:nvPicPr>
          <p:cNvPr id="33" name="Picture 32" descr="lim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594122"/>
            <a:ext cx="4892040" cy="25497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4672" y="4023360"/>
            <a:ext cx="49377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10">
                <a:solidFill>
                  <a:srgbClr val="1A1F2B"/>
                </a:solidFill>
                <a:latin typeface="微软雅黑"/>
              </a:defRPr>
            </a:pPr>
            <a:r>
              <a:t>电流圆限制决定最大可用电流，电压椭圆限制决定高速弱磁边界。</a:t>
            </a:r>
          </a:p>
          <a:p>
            <a:pPr>
              <a:spcAft>
                <a:spcPts val="100"/>
              </a:spcAft>
              <a:defRPr sz="810">
                <a:solidFill>
                  <a:srgbClr val="1A1F2B"/>
                </a:solidFill>
                <a:latin typeface="微软雅黑"/>
              </a:defRPr>
            </a:pPr>
            <a:r>
              <a:t>当 E₀=ωₑψ_f 增大到接近电压上限时，需要 id&lt;0 降低等效 d 轴磁链。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090672"/>
            <a:ext cx="525780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3090672"/>
            <a:ext cx="50292" cy="14813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182112"/>
            <a:ext cx="4983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与后续内容关系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583680" y="3438144"/>
          <a:ext cx="48006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143000"/>
                <a:gridCol w="3108960"/>
              </a:tblGrid>
              <a:tr h="144780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页码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主题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后续作用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PMSM 结构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解释为何 IPMSM 适合 MTPA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P2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坐标变换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建立 dq/αβ 控制坐标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P3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dq 模型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推导转矩、补偿和弱磁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P4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控制链路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形成 MTPA→SVPWM 实现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P6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Hall 顺序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说明扇区/换相顺序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502920" y="4800600"/>
            <a:ext cx="11109960" cy="713232"/>
          </a:xfrm>
          <a:prstGeom prst="rect">
            <a:avLst/>
          </a:prstGeom>
          <a:solidFill>
            <a:srgbClr val="EAF2FA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800600"/>
            <a:ext cx="50292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892040"/>
            <a:ext cx="10835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一句话总结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056632"/>
            <a:ext cx="1060704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50" b="1">
                <a:solidFill>
                  <a:srgbClr val="1A1F2B"/>
                </a:solidFill>
                <a:latin typeface="微软雅黑"/>
              </a:defRPr>
            </a:pPr>
            <a:r>
              <a:t>PMSM 矢量控制的数学主线是：abc 交流量 → αβ/dq 直流化 → dq 模型与转矩方程 → MTPA 电流给定 → 解耦补偿 → 反变换与 SVPWM。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1408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5615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9824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2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C9CFD8"/>
                </a:solidFill>
                <a:latin typeface="微软雅黑"/>
              </a:defRPr>
            </a:pPr>
            <a:r>
              <a:t>公式汇总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05872" y="0"/>
            <a:ext cx="1664208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42447" y="192024"/>
            <a:ext cx="1591056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0392"/>
            <a:ext cx="106984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1A1F2B"/>
                </a:solidFill>
                <a:latin typeface="微软雅黑"/>
              </a:defRPr>
            </a:pPr>
            <a:r>
              <a:t>Hall ABC 换相顺序与 SVPWM 扇区关系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389888"/>
            <a:ext cx="676656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389888"/>
            <a:ext cx="50292" cy="242316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481328"/>
            <a:ext cx="64922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Hall 信号与反电势零交越</a:t>
            </a:r>
          </a:p>
        </p:txBody>
      </p:sp>
      <p:pic>
        <p:nvPicPr>
          <p:cNvPr id="18" name="Picture 17" descr="hall_wavefo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693" y="1664208"/>
            <a:ext cx="5275868" cy="16276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384" y="3310128"/>
            <a:ext cx="6126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00">
                <a:solidFill>
                  <a:srgbClr val="1A1F2B"/>
                </a:solidFill>
                <a:latin typeface="微软雅黑"/>
              </a:defRPr>
            </a:pPr>
            <a:r>
              <a:t>Hall 信号给出反电势位置的逻辑指示，每 60° 电角度发生一次状态变化。</a:t>
            </a:r>
          </a:p>
          <a:p>
            <a:pPr>
              <a:spcAft>
                <a:spcPts val="100"/>
              </a:spcAft>
              <a:defRPr sz="800">
                <a:solidFill>
                  <a:srgbClr val="1A1F2B"/>
                </a:solidFill>
                <a:latin typeface="微软雅黑"/>
              </a:defRPr>
            </a:pPr>
            <a:r>
              <a:t>图中采用梯形波/六步换相表达；正弦波 FOC/SVPWM 的扇区顺序仍按同一 Hall 状态循环。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389888"/>
            <a:ext cx="411480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389888"/>
            <a:ext cx="50292" cy="242316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9" y="1481328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Hall ABC 状态表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726679" y="1810512"/>
          <a:ext cx="361188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685800"/>
                <a:gridCol w="685800"/>
                <a:gridCol w="1463040"/>
              </a:tblGrid>
              <a:tr h="196596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电角度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Hall ABC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空间矢量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0°-60°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100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60°-120°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110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120°-180°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010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180°-240°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011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240°-300°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001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300°-360°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101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任意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000/111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V0/V7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零矢量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02920" y="4023360"/>
            <a:ext cx="5440680" cy="1389888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023360"/>
            <a:ext cx="50292" cy="138988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114800"/>
            <a:ext cx="5166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从 Hall 到开关/扇区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407408"/>
            <a:ext cx="48463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1A1F2B"/>
                </a:solidFill>
                <a:latin typeface="微软雅黑"/>
              </a:defRPr>
            </a:pPr>
            <a:r>
              <a:t>六步控制：Hall ABC 直接解码为上、下桥臂导通组合。</a:t>
            </a:r>
          </a:p>
          <a:p>
            <a:pPr>
              <a:spcAft>
                <a:spcPts val="100"/>
              </a:spcAft>
              <a:defRPr sz="840">
                <a:solidFill>
                  <a:srgbClr val="1A1F2B"/>
                </a:solidFill>
                <a:latin typeface="微软雅黑"/>
              </a:defRPr>
            </a:pPr>
            <a:r>
              <a:t>SVPWM/FOC：Hall 状态常用于粗略电角度、扇区判断或启动定位。</a:t>
            </a:r>
          </a:p>
          <a:p>
            <a:pPr>
              <a:spcAft>
                <a:spcPts val="100"/>
              </a:spcAft>
              <a:defRPr sz="840">
                <a:solidFill>
                  <a:srgbClr val="1A1F2B"/>
                </a:solidFill>
                <a:latin typeface="微软雅黑"/>
              </a:defRPr>
            </a:pPr>
            <a:r>
              <a:t>000、111 不提供有效方向信息，对应零矢量或非法/停机状态，不能作为有效换相扇区。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023360"/>
            <a:ext cx="5394960" cy="1389888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023360"/>
            <a:ext cx="50292" cy="138988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5120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客观说明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07408"/>
            <a:ext cx="47548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C93A3A"/>
                </a:solidFill>
                <a:latin typeface="微软雅黑"/>
              </a:defRPr>
            </a:pPr>
            <a:r>
              <a:t>表中顺序按你给的图从 0° 开始读取；实际硬件可能因 Hall 安装极性、相序定义而循环平移或反向。</a:t>
            </a:r>
          </a:p>
          <a:p>
            <a:pPr>
              <a:spcAft>
                <a:spcPts val="100"/>
              </a:spcAft>
              <a:defRPr sz="840">
                <a:solidFill>
                  <a:srgbClr val="C93A3A"/>
                </a:solidFill>
                <a:latin typeface="微软雅黑"/>
              </a:defRPr>
            </a:pPr>
            <a:r>
              <a:t>因此工程上应以实测相序校准表为准，PPT 中强调的是“换相状态循环顺序”这一规律。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