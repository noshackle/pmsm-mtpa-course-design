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C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"/>
            <a:ext cx="1737360" cy="4801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11680" y="0"/>
            <a:ext cx="1444752" cy="71323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39112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背景与意义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83864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坐标变换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8616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数学模型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控制链路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19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公式推导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2872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Hall换相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07624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SVPWM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923544"/>
            <a:ext cx="73152" cy="420624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832104"/>
            <a:ext cx="1069848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1A1F2B"/>
                </a:solidFill>
                <a:latin typeface="微软雅黑"/>
              </a:defRPr>
            </a:pPr>
            <a:r>
              <a:t>永磁同步电机（PMSM）结构、分类与用途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923544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100" b="1">
                <a:solidFill>
                  <a:srgbClr val="004A8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389888"/>
            <a:ext cx="4297680" cy="2834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1389888"/>
            <a:ext cx="50292" cy="283464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1481328"/>
            <a:ext cx="4023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结构认知</a:t>
            </a:r>
          </a:p>
        </p:txBody>
      </p:sp>
      <p:pic>
        <p:nvPicPr>
          <p:cNvPr id="19" name="Picture 18" descr="pmsm_cuta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478" y="1682496"/>
            <a:ext cx="2653090" cy="18470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9808" y="3584448"/>
            <a:ext cx="3657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1019">
                <a:solidFill>
                  <a:srgbClr val="1A1F2B"/>
                </a:solidFill>
                <a:latin typeface="微软雅黑"/>
              </a:defRPr>
            </a:pPr>
            <a:r>
              <a:t>定子：三相对称绕组，空间互差 120° 电角度。</a:t>
            </a:r>
          </a:p>
          <a:p>
            <a:pPr>
              <a:spcAft>
                <a:spcPts val="100"/>
              </a:spcAft>
              <a:defRPr sz="1019">
                <a:solidFill>
                  <a:srgbClr val="1A1F2B"/>
                </a:solidFill>
                <a:latin typeface="微软雅黑"/>
              </a:defRPr>
            </a:pPr>
            <a:r>
              <a:t>转子：永磁体提供励磁磁链 ψ_f，省去励磁绕组。</a:t>
            </a:r>
          </a:p>
          <a:p>
            <a:pPr>
              <a:spcAft>
                <a:spcPts val="100"/>
              </a:spcAft>
              <a:defRPr sz="1019">
                <a:solidFill>
                  <a:srgbClr val="1A1F2B"/>
                </a:solidFill>
                <a:latin typeface="微软雅黑"/>
              </a:defRPr>
            </a:pPr>
            <a:r>
              <a:t>电角度与机械角度：θₑ=pθₘ，ωₑ=pωₘ。</a:t>
            </a:r>
          </a:p>
        </p:txBody>
      </p:sp>
      <p:pic>
        <p:nvPicPr>
          <p:cNvPr id="21" name="Picture 20" descr="flu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4012247"/>
            <a:ext cx="3657600" cy="1685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029200" y="1389888"/>
            <a:ext cx="6583680" cy="2834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0" y="1389888"/>
            <a:ext cx="50292" cy="283464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1481328"/>
            <a:ext cx="6309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SPMSM / IPMSM 对比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321808" y="1847088"/>
          <a:ext cx="594360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331720"/>
                <a:gridCol w="2514600"/>
              </a:tblGrid>
              <a:tr h="373075"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项目</a:t>
                      </a:r>
                    </a:p>
                  </a:txBody>
                  <a:tcPr marL="27432" marR="27432" marT="18288" marB="18288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SPMSM（表贴式）</a:t>
                      </a:r>
                    </a:p>
                  </a:txBody>
                  <a:tcPr marL="27432" marR="27432" marT="18288" marB="18288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IPMSM（内嵌式）</a:t>
                      </a:r>
                    </a:p>
                  </a:txBody>
                  <a:tcPr marL="27432" marR="27432" marT="18288" marB="18288">
                    <a:solidFill>
                      <a:srgbClr val="004A8F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永磁体位置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转子表面粘贴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转子内部嵌入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电感关系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Ld≈Lq，隐极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Ld&lt;Lq，凸极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转矩来源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主要为永磁转矩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永磁转矩 + 磁阻转矩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73076"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适用场景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结构简单、控制直观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高速、高功率密度驱动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321808" y="3840480"/>
            <a:ext cx="59436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930" b="0">
                <a:solidFill>
                  <a:srgbClr val="677285"/>
                </a:solidFill>
                <a:latin typeface="微软雅黑"/>
              </a:defRPr>
            </a:pPr>
            <a:r>
              <a:t>PMSM 模型按三相定子绕组和永磁体转子描述；FOC 常假设正弦反电势。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443984"/>
            <a:ext cx="11109960" cy="1188720"/>
          </a:xfrm>
          <a:prstGeom prst="rect">
            <a:avLst/>
          </a:prstGeom>
          <a:solidFill>
            <a:srgbClr val="F3F8FC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443984"/>
            <a:ext cx="50292" cy="118872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535424"/>
            <a:ext cx="10835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应用与控制铺垫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4828032"/>
            <a:ext cx="1024128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1080">
                <a:solidFill>
                  <a:srgbClr val="1A1F2B"/>
                </a:solidFill>
                <a:latin typeface="微软雅黑"/>
              </a:defRPr>
            </a:pPr>
            <a:r>
              <a:t>典型应用：新能源汽车主驱、伺服系统、工业调速和高效率家电。</a:t>
            </a:r>
          </a:p>
          <a:p>
            <a:pPr>
              <a:spcAft>
                <a:spcPts val="100"/>
              </a:spcAft>
              <a:defRPr sz="1080">
                <a:solidFill>
                  <a:srgbClr val="1A1F2B"/>
                </a:solidFill>
                <a:latin typeface="微软雅黑"/>
              </a:defRPr>
            </a:pPr>
            <a:r>
              <a:t>IPMSM 的磁阻转矩可由负 d 轴电流利用，因此适合 MTPA 最优电流分配。</a:t>
            </a:r>
          </a:p>
          <a:p>
            <a:pPr>
              <a:spcAft>
                <a:spcPts val="100"/>
              </a:spcAft>
              <a:defRPr sz="1080">
                <a:solidFill>
                  <a:srgbClr val="1A1F2B"/>
                </a:solidFill>
                <a:latin typeface="微软雅黑"/>
              </a:defRPr>
            </a:pPr>
            <a:r>
              <a:t>控制链路最终把 dq 电压指令经反 Park 转到 αβ，再由 SVPWM 生成逆变器 PWM。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742432"/>
            <a:ext cx="4754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720" b="0">
                <a:solidFill>
                  <a:srgbClr val="677285"/>
                </a:solidFill>
                <a:latin typeface="微软雅黑"/>
              </a:defRPr>
            </a:pPr>
            <a:r>
              <a:t>参考：MathWorks Permanent Magnet Synchronous Machine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C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"/>
            <a:ext cx="1737360" cy="4801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39112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背景与意义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3456432" y="0"/>
            <a:ext cx="1444752" cy="71323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83864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坐标变换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8616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数学模型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控制链路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19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公式推导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2872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Hall换相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07624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SVPWM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923544"/>
            <a:ext cx="73152" cy="420624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832104"/>
            <a:ext cx="1069848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1A1F2B"/>
                </a:solidFill>
                <a:latin typeface="微软雅黑"/>
              </a:defRPr>
            </a:pPr>
            <a:r>
              <a:t>Clark / Park 坐标变换：矩阵、方向与功率关系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923544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100" b="1">
                <a:solidFill>
                  <a:srgbClr val="004A8F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371600"/>
            <a:ext cx="3977639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1371600"/>
            <a:ext cx="50292" cy="248716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1463040"/>
            <a:ext cx="37033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Clark：abc → αβ0（幅值不变）</a:t>
            </a:r>
          </a:p>
        </p:txBody>
      </p:sp>
      <p:pic>
        <p:nvPicPr>
          <p:cNvPr id="19" name="Picture 18" descr="cl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383" y="1719072"/>
            <a:ext cx="3093856" cy="969264"/>
          </a:xfrm>
          <a:prstGeom prst="rect">
            <a:avLst/>
          </a:prstGeom>
        </p:spPr>
      </p:pic>
      <p:pic>
        <p:nvPicPr>
          <p:cNvPr id="20" name="Picture 19" descr="clark_in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273" y="2761488"/>
            <a:ext cx="1994077" cy="713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645152" y="1371600"/>
            <a:ext cx="3657600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45152" y="1371600"/>
            <a:ext cx="50292" cy="248716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1463040"/>
            <a:ext cx="33832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Park：αβ0 ↔ dq0</a:t>
            </a:r>
          </a:p>
        </p:txBody>
      </p:sp>
      <p:pic>
        <p:nvPicPr>
          <p:cNvPr id="24" name="Picture 23" descr="p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2222264"/>
            <a:ext cx="3273552" cy="43836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864608" y="3346704"/>
            <a:ext cx="30632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950" b="0">
                <a:solidFill>
                  <a:srgbClr val="677285"/>
                </a:solidFill>
                <a:latin typeface="微软雅黑"/>
              </a:defRPr>
            </a:pPr>
            <a:r>
              <a:t>dq 旋转坐标随 θₑ 转动，正弦量在 dq 下近似为直流量。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1371600"/>
            <a:ext cx="3108960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03920" y="1371600"/>
            <a:ext cx="50292" cy="248716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1463040"/>
            <a:ext cx="2834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坐标方向示意</a:t>
            </a:r>
          </a:p>
        </p:txBody>
      </p:sp>
      <p:pic>
        <p:nvPicPr>
          <p:cNvPr id="29" name="Picture 28" descr="abc_ab_dq_ax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1785861"/>
            <a:ext cx="2834640" cy="13843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68512" y="3401568"/>
            <a:ext cx="27432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80" b="0">
                <a:solidFill>
                  <a:srgbClr val="677285"/>
                </a:solidFill>
                <a:latin typeface="微软雅黑"/>
              </a:defRPr>
            </a:pPr>
            <a:r>
              <a:t>A/B/C 相差 120°；q 轴超前 d 轴 90°；αβ 为静止坐标。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050791"/>
            <a:ext cx="11109960" cy="1408176"/>
          </a:xfrm>
          <a:prstGeom prst="rect">
            <a:avLst/>
          </a:prstGeom>
          <a:solidFill>
            <a:srgbClr val="F3F8FC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050791"/>
            <a:ext cx="50292" cy="1408176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42231"/>
            <a:ext cx="10835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功率不变性与 P/Q 表达式</a:t>
            </a:r>
          </a:p>
        </p:txBody>
      </p:sp>
      <p:pic>
        <p:nvPicPr>
          <p:cNvPr id="34" name="Picture 33" descr="pq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0279" y="4407408"/>
            <a:ext cx="2794016" cy="6949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92240" y="4389120"/>
            <a:ext cx="44348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960">
                <a:solidFill>
                  <a:srgbClr val="1A1F2B"/>
                </a:solidFill>
                <a:latin typeface="微软雅黑"/>
              </a:defRPr>
            </a:pPr>
            <a:r>
              <a:t>幅值不变 Clark 下，三相功率需乘 3/2 系数。</a:t>
            </a:r>
          </a:p>
          <a:p>
            <a:pPr>
              <a:spcAft>
                <a:spcPts val="100"/>
              </a:spcAft>
              <a:defRPr sz="960">
                <a:solidFill>
                  <a:srgbClr val="1A1F2B"/>
                </a:solidFill>
                <a:latin typeface="微软雅黑"/>
              </a:defRPr>
            </a:pPr>
            <a:r>
              <a:t>Park 是平面旋转，保持 αβ 内积不变，因此功率可写成 dq 形式。</a:t>
            </a:r>
          </a:p>
          <a:p>
            <a:pPr>
              <a:spcAft>
                <a:spcPts val="100"/>
              </a:spcAft>
              <a:defRPr sz="960">
                <a:solidFill>
                  <a:srgbClr val="1A1F2B"/>
                </a:solidFill>
                <a:latin typeface="微软雅黑"/>
              </a:defRPr>
            </a:pPr>
            <a:r>
              <a:t>这一关系支撑电流环、MTPA 给定和 SVPWM 电压指令的统一建模。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577840"/>
            <a:ext cx="57607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720" b="0">
                <a:solidFill>
                  <a:srgbClr val="677285"/>
                </a:solidFill>
                <a:latin typeface="微软雅黑"/>
              </a:defRPr>
            </a:pPr>
            <a:r>
              <a:t>参考：MathWorks Alpha-Beta-Zero to dq0 / dq0 to Alpha-Beta-Zero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C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"/>
            <a:ext cx="1737360" cy="4801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39112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83864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坐标变换</a:t>
            </a:r>
          </a:p>
        </p:txBody>
      </p:sp>
      <p:sp>
        <p:nvSpPr>
          <p:cNvPr id="7" name="Rectangle 6"/>
          <p:cNvSpPr/>
          <p:nvPr/>
        </p:nvSpPr>
        <p:spPr>
          <a:xfrm>
            <a:off x="4901184" y="0"/>
            <a:ext cx="1444752" cy="71323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28616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数学模型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控制链路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19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公式推导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2872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Hall换相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07624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SVPWM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923544"/>
            <a:ext cx="73152" cy="420624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832104"/>
            <a:ext cx="1069848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1A1F2B"/>
                </a:solidFill>
                <a:latin typeface="微软雅黑"/>
              </a:defRPr>
            </a:pPr>
            <a:r>
              <a:t>PMSM dq 轴数学模型：电压、磁链、转矩与反电动势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923544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100" b="1">
                <a:solidFill>
                  <a:srgbClr val="004A8F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371600"/>
            <a:ext cx="5989320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1371600"/>
            <a:ext cx="50292" cy="205740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1463040"/>
            <a:ext cx="5715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dq 电压方程（含耦合项）</a:t>
            </a:r>
          </a:p>
        </p:txBody>
      </p:sp>
      <p:pic>
        <p:nvPicPr>
          <p:cNvPr id="19" name="Picture 18" descr="vol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108" y="1737360"/>
            <a:ext cx="5169798" cy="10241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6384" y="2834640"/>
            <a:ext cx="53766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C93A3A"/>
                </a:solidFill>
                <a:latin typeface="微软雅黑"/>
              </a:defRPr>
            </a:pPr>
            <a:r>
              <a:t>−ωₑL_qi_q 串入 d 轴；+ωₑ(L_di_d+ψ_f) 串入 q 轴。</a:t>
            </a:r>
          </a:p>
          <a:p>
            <a:pPr>
              <a:spcAft>
                <a:spcPts val="100"/>
              </a:spcAft>
              <a:defRPr sz="950">
                <a:solidFill>
                  <a:srgbClr val="C93A3A"/>
                </a:solidFill>
                <a:latin typeface="微软雅黑"/>
              </a:defRPr>
            </a:pPr>
            <a:r>
              <a:t>转速越高，耦合和反电动势越强，电流环越需要前馈补偿。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1371600"/>
            <a:ext cx="4892040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20840" y="1371600"/>
            <a:ext cx="50292" cy="205740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463040"/>
            <a:ext cx="4617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磁链、反电动势与角速度</a:t>
            </a:r>
          </a:p>
        </p:txBody>
      </p:sp>
      <p:pic>
        <p:nvPicPr>
          <p:cNvPr id="24" name="Picture 23" descr="flu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1927797"/>
            <a:ext cx="4434840" cy="20434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31152" y="2432304"/>
            <a:ext cx="425196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1A1F2B"/>
                </a:solidFill>
                <a:latin typeface="微软雅黑"/>
              </a:defRPr>
            </a:pPr>
            <a:r>
              <a:t>ψ_f 为永磁体磁链，E₀ 随电角速度线性增大。</a:t>
            </a:r>
          </a:p>
          <a:p>
            <a:pPr>
              <a:spcAft>
                <a:spcPts val="100"/>
              </a:spcAft>
              <a:defRPr sz="950">
                <a:solidFill>
                  <a:srgbClr val="1A1F2B"/>
                </a:solidFill>
                <a:latin typeface="微软雅黑"/>
              </a:defRPr>
            </a:pPr>
            <a:r>
              <a:t>当反电动势接近直流母线可用电压时，进入弱磁控制区域。</a:t>
            </a:r>
          </a:p>
          <a:p>
            <a:pPr>
              <a:spcAft>
                <a:spcPts val="100"/>
              </a:spcAft>
              <a:defRPr sz="950">
                <a:solidFill>
                  <a:srgbClr val="1A1F2B"/>
                </a:solidFill>
                <a:latin typeface="微软雅黑"/>
              </a:defRPr>
            </a:pPr>
            <a:r>
              <a:t>θₑ、ωₑ 是 Park / 反 Park 以及解耦补偿的共同输入。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703320"/>
            <a:ext cx="6446520" cy="1792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703320"/>
            <a:ext cx="50292" cy="1792224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794759"/>
            <a:ext cx="61722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电磁转矩：原始式与分解式</a:t>
            </a:r>
          </a:p>
        </p:txBody>
      </p:sp>
      <p:pic>
        <p:nvPicPr>
          <p:cNvPr id="29" name="Picture 28" descr="torq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0652" y="4041648"/>
            <a:ext cx="1563624" cy="9326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86384" y="5047488"/>
            <a:ext cx="5870448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900" b="0">
                <a:solidFill>
                  <a:srgbClr val="677285"/>
                </a:solidFill>
                <a:latin typeface="微软雅黑"/>
              </a:defRPr>
            </a:pPr>
            <a:r>
              <a:t>T_e 是电磁转矩；ψ_f i_q 对应永磁转矩项，(L_d−L_q)i_d i_q 对应磁阻转矩项。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78040" y="3703320"/>
            <a:ext cx="4434840" cy="1792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78040" y="3703320"/>
            <a:ext cx="50292" cy="1792224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60919" y="3794759"/>
            <a:ext cx="41605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P/Q 与机械功率</a:t>
            </a:r>
          </a:p>
        </p:txBody>
      </p:sp>
      <p:pic>
        <p:nvPicPr>
          <p:cNvPr id="34" name="Picture 33" descr="power_spl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8403" y="4069080"/>
            <a:ext cx="888392" cy="493776"/>
          </a:xfrm>
          <a:prstGeom prst="rect">
            <a:avLst/>
          </a:prstGeom>
        </p:spPr>
      </p:pic>
      <p:pic>
        <p:nvPicPr>
          <p:cNvPr id="35" name="Picture 34" descr="mechanical_pow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2384" y="4645152"/>
            <a:ext cx="700430" cy="4023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52360" y="5084064"/>
            <a:ext cx="38404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80" b="0">
                <a:solidFill>
                  <a:srgbClr val="C93A3A"/>
                </a:solidFill>
                <a:latin typeface="微软雅黑"/>
              </a:defRPr>
            </a:pPr>
            <a:r>
              <a:t>P_e=T_e·ω_m=T_e·ω_e/p，机械角速度和电角速度需区分。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5577840"/>
            <a:ext cx="4754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720" b="0">
                <a:solidFill>
                  <a:srgbClr val="677285"/>
                </a:solidFill>
                <a:latin typeface="微软雅黑"/>
              </a:defRPr>
            </a:pPr>
            <a:r>
              <a:t>参考：MathWorks Permanent Magnet Synchronous Machine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C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"/>
            <a:ext cx="1737360" cy="4801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39112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83864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坐标变换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28616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数学模型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5936" y="0"/>
            <a:ext cx="1444752" cy="71323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控制链路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19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公式推导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2872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Hall换相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07624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SVPWM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923544"/>
            <a:ext cx="73152" cy="420624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832104"/>
            <a:ext cx="1069848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1A1F2B"/>
                </a:solidFill>
                <a:latin typeface="微软雅黑"/>
              </a:defRPr>
            </a:pPr>
            <a:r>
              <a:t>控制链路：速度环 → MTPA(Is) → 电流环 → 2-Level PWM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923544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100" b="1">
                <a:solidFill>
                  <a:srgbClr val="004A8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335024"/>
            <a:ext cx="11109960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1335024"/>
            <a:ext cx="50292" cy="312724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1426464"/>
            <a:ext cx="10835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控制路（按 Simulink 顶层命名）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1810512"/>
            <a:ext cx="822960" cy="475488"/>
          </a:xfrm>
          <a:prstGeom prst="round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1883664"/>
            <a:ext cx="749808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960" b="1">
                <a:solidFill>
                  <a:srgbClr val="FFFFFF"/>
                </a:solidFill>
                <a:latin typeface="微软雅黑"/>
              </a:defRPr>
            </a:pPr>
            <a:r>
              <a:t>ωref / nref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700784" y="1975104"/>
            <a:ext cx="201168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975104" y="1810512"/>
            <a:ext cx="438912" cy="475488"/>
          </a:xfrm>
          <a:prstGeom prst="roundRect">
            <a:avLst/>
          </a:prstGeom>
          <a:solidFill>
            <a:srgbClr val="C9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1883664"/>
            <a:ext cx="365759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⊕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487168" y="1975104"/>
            <a:ext cx="201168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61488" y="1810512"/>
            <a:ext cx="960120" cy="475488"/>
          </a:xfrm>
          <a:prstGeom prst="round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98064" y="1883664"/>
            <a:ext cx="886968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速度 PI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794760" y="1975104"/>
            <a:ext cx="201168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069080" y="1810512"/>
            <a:ext cx="566928" cy="475488"/>
          </a:xfrm>
          <a:prstGeom prst="round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05656" y="1883664"/>
            <a:ext cx="493776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微软雅黑"/>
              </a:defRPr>
            </a:pPr>
            <a:r>
              <a:t>Is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709160" y="1975104"/>
            <a:ext cx="201168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983480" y="1792224"/>
            <a:ext cx="1444752" cy="530352"/>
          </a:xfrm>
          <a:prstGeom prst="roundRect">
            <a:avLst/>
          </a:prstGeom>
          <a:solidFill>
            <a:srgbClr val="19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0056" y="1865376"/>
            <a:ext cx="1371600" cy="402335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869" b="1">
                <a:solidFill>
                  <a:srgbClr val="FFFFFF"/>
                </a:solidFill>
                <a:latin typeface="微软雅黑"/>
              </a:defRPr>
            </a:pPr>
            <a:r>
              <a:t>MTPA IPMSM</a:t>
            </a:r>
            <a:br/>
            <a:r>
              <a:t>给定 Is 求 idq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519672" y="1975104"/>
            <a:ext cx="201168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793992" y="1810512"/>
            <a:ext cx="859536" cy="475488"/>
          </a:xfrm>
          <a:prstGeom prst="round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30568" y="1883664"/>
            <a:ext cx="786384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id*, iq*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2127" y="1828800"/>
            <a:ext cx="3273552" cy="42062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00" b="0">
                <a:solidFill>
                  <a:srgbClr val="677285"/>
                </a:solidFill>
                <a:latin typeface="微软雅黑"/>
              </a:defRPr>
            </a:pPr>
            <a:r>
              <a:t>模型中速度 PI 后不是 Te*，而是电流幅值 Is；MTPA 子系统由 Is 计算 id*、iq*。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" y="2880360"/>
            <a:ext cx="877824" cy="566928"/>
          </a:xfrm>
          <a:prstGeom prst="round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2953512"/>
            <a:ext cx="804672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微软雅黑"/>
              </a:defRPr>
            </a:pPr>
            <a:r>
              <a:t>id*−id</a:t>
            </a:r>
            <a:br/>
            <a:r>
              <a:t>iq*−iq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783080" y="3081528"/>
            <a:ext cx="201168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066543" y="2880360"/>
            <a:ext cx="1024128" cy="566928"/>
          </a:xfrm>
          <a:prstGeom prst="roundRect">
            <a:avLst/>
          </a:prstGeom>
          <a:solidFill>
            <a:srgbClr val="E5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0" y="2953512"/>
            <a:ext cx="950976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微软雅黑"/>
              </a:defRPr>
            </a:pPr>
            <a:r>
              <a:t>电流 PI_d/q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3182112" y="3081528"/>
            <a:ext cx="201168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456432" y="2880360"/>
            <a:ext cx="804672" cy="566928"/>
          </a:xfrm>
          <a:prstGeom prst="round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93008" y="2953512"/>
            <a:ext cx="731520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ud,PI</a:t>
            </a:r>
            <a:br/>
            <a:r>
              <a:t>uq,PI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361688" y="3081528"/>
            <a:ext cx="201168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645152" y="2880360"/>
            <a:ext cx="1325880" cy="566928"/>
          </a:xfrm>
          <a:prstGeom prst="roundRect">
            <a:avLst/>
          </a:prstGeom>
          <a:solidFill>
            <a:srgbClr val="C9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81728" y="2953512"/>
            <a:ext cx="1252728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880" b="1">
                <a:solidFill>
                  <a:srgbClr val="FFFFFF"/>
                </a:solidFill>
                <a:latin typeface="微软雅黑"/>
              </a:defRPr>
            </a:pPr>
            <a:r>
              <a:t>反电动势补偿</a:t>
            </a:r>
            <a:br/>
            <a:r>
              <a:t>decoupling</a:t>
            </a:r>
          </a:p>
        </p:txBody>
      </p:sp>
      <p:pic>
        <p:nvPicPr>
          <p:cNvPr id="48" name="Picture 47" descr="decouple_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917148"/>
            <a:ext cx="4187952" cy="292182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3246120" y="3749039"/>
            <a:ext cx="950976" cy="457200"/>
          </a:xfrm>
          <a:prstGeom prst="round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82696" y="3822191"/>
            <a:ext cx="877824" cy="32918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940" b="1">
                <a:solidFill>
                  <a:srgbClr val="FFFFFF"/>
                </a:solidFill>
                <a:latin typeface="微软雅黑"/>
              </a:defRPr>
            </a:pPr>
            <a:r>
              <a:t>dq0 → αβ0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4297680" y="3904487"/>
            <a:ext cx="201168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572000" y="3749039"/>
            <a:ext cx="914400" cy="457200"/>
          </a:xfrm>
          <a:prstGeom prst="round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08576" y="3822191"/>
            <a:ext cx="841248" cy="32918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940" b="1">
                <a:solidFill>
                  <a:srgbClr val="FFFFFF"/>
                </a:solidFill>
                <a:latin typeface="微软雅黑"/>
              </a:defRPr>
            </a:pPr>
            <a:r>
              <a:t>uα*, uβ*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5577840" y="3904487"/>
            <a:ext cx="201168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852160" y="3721607"/>
            <a:ext cx="1389888" cy="512064"/>
          </a:xfrm>
          <a:prstGeom prst="roundRect">
            <a:avLst/>
          </a:prstGeom>
          <a:solidFill>
            <a:srgbClr val="19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88736" y="3794759"/>
            <a:ext cx="1316736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869" b="1">
                <a:solidFill>
                  <a:srgbClr val="FFFFFF"/>
                </a:solidFill>
                <a:latin typeface="微软雅黑"/>
              </a:defRPr>
            </a:pPr>
            <a:r>
              <a:t>SVPWM Generator</a:t>
            </a:r>
            <a:br/>
            <a:r>
              <a:t>(2-Level)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7342631" y="3904487"/>
            <a:ext cx="201168" cy="146304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607808" y="3721607"/>
            <a:ext cx="749808" cy="512064"/>
          </a:xfrm>
          <a:prstGeom prst="roundRect">
            <a:avLst/>
          </a:prstGeom>
          <a:solidFill>
            <a:srgbClr val="19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44383" y="3794759"/>
            <a:ext cx="676656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微软雅黑"/>
              </a:defRPr>
            </a:pPr>
            <a:r>
              <a:t>PWM 波</a:t>
            </a:r>
            <a:br/>
            <a:r>
              <a:t>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77072" y="3730752"/>
            <a:ext cx="2523744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940" b="0">
                <a:solidFill>
                  <a:srgbClr val="677285"/>
                </a:solidFill>
                <a:latin typeface="微软雅黑"/>
              </a:defRPr>
            </a:pPr>
            <a:r>
              <a:t>该块对应模型中的官方 2-Level PWM Generator，输出 PWM/控制信号给逆变器桥臂。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4718304"/>
            <a:ext cx="5394960" cy="960120"/>
          </a:xfrm>
          <a:prstGeom prst="rect">
            <a:avLst/>
          </a:prstGeom>
          <a:solidFill>
            <a:srgbClr val="F3F8FC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2920" y="4718304"/>
            <a:ext cx="50292" cy="96012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" y="4809744"/>
            <a:ext cx="5120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反馈测量路径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" y="5029200"/>
            <a:ext cx="48006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1A1F2B"/>
                </a:solidFill>
                <a:latin typeface="微软雅黑"/>
              </a:defRPr>
            </a:pPr>
            <a:r>
              <a:t>PMSM 输出 Iabc、Wm、Te 等测量量；Iabc 与转角进入 abc to dq0。</a:t>
            </a:r>
          </a:p>
          <a:p>
            <a:pPr>
              <a:spcAft>
                <a:spcPts val="100"/>
              </a:spcAft>
              <a:defRPr sz="900">
                <a:solidFill>
                  <a:srgbClr val="1A1F2B"/>
                </a:solidFill>
                <a:latin typeface="微软雅黑"/>
              </a:defRPr>
            </a:pPr>
            <a:r>
              <a:t>abc to dq0 输出 id、iq，回到电流误差；Wm 回到速度比较点。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99632" y="4718304"/>
            <a:ext cx="5413248" cy="960120"/>
          </a:xfrm>
          <a:prstGeom prst="rect">
            <a:avLst/>
          </a:prstGeom>
          <a:solidFill>
            <a:srgbClr val="F3F8FC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99632" y="4718304"/>
            <a:ext cx="50292" cy="96012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82512" y="4809744"/>
            <a:ext cx="5138928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逆变器 + PMSM 实体路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73952" y="5029200"/>
            <a:ext cx="48006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1A1F2B"/>
                </a:solidFill>
                <a:latin typeface="微软雅黑"/>
              </a:defRPr>
            </a:pPr>
            <a:r>
              <a:t>控制路输出 PWM/Control → Inverter → Permanent Magnet Synchronous Machine。</a:t>
            </a:r>
          </a:p>
          <a:p>
            <a:pPr>
              <a:spcAft>
                <a:spcPts val="100"/>
              </a:spcAft>
              <a:defRPr sz="900">
                <a:solidFill>
                  <a:srgbClr val="1A1F2B"/>
                </a:solidFill>
                <a:latin typeface="微软雅黑"/>
              </a:defRPr>
            </a:pPr>
            <a:r>
              <a:t>该部分是功率变换与电机本体；控制路与实体路在顶层模型中分区显示。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C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"/>
            <a:ext cx="1737360" cy="4801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39112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83864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坐标变换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28616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数学模型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3368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控制链路</a:t>
            </a:r>
          </a:p>
        </p:txBody>
      </p:sp>
      <p:sp>
        <p:nvSpPr>
          <p:cNvPr id="9" name="Rectangle 8"/>
          <p:cNvSpPr/>
          <p:nvPr/>
        </p:nvSpPr>
        <p:spPr>
          <a:xfrm>
            <a:off x="7790688" y="0"/>
            <a:ext cx="1444752" cy="71323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19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公式推导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2872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Hall换相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07624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SVPWM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923544"/>
            <a:ext cx="73152" cy="420624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832104"/>
            <a:ext cx="1069848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1A1F2B"/>
                </a:solidFill>
                <a:latin typeface="微软雅黑"/>
              </a:defRPr>
            </a:pPr>
            <a:r>
              <a:t>公式推导：P/Q 表达式、电磁功率与转矩分解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923544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100" b="1">
                <a:solidFill>
                  <a:srgbClr val="004A8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371600"/>
            <a:ext cx="5394960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1371600"/>
            <a:ext cx="50292" cy="171907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1463040"/>
            <a:ext cx="5120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有功 / 无功功率表达式</a:t>
            </a:r>
          </a:p>
        </p:txBody>
      </p:sp>
      <p:pic>
        <p:nvPicPr>
          <p:cNvPr id="19" name="Picture 18" descr="p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243" y="1755648"/>
            <a:ext cx="3235177" cy="8046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04672" y="2624328"/>
            <a:ext cx="4828032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900" b="0">
                <a:solidFill>
                  <a:srgbClr val="677285"/>
                </a:solidFill>
                <a:latin typeface="微软雅黑"/>
              </a:defRPr>
            </a:pPr>
            <a:r>
              <a:t>此处采用 S=3/2·u_s*·i_s 的符号约定，因此 Q=3/2(udiq−uqid)。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1371600"/>
            <a:ext cx="5413248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1371600"/>
            <a:ext cx="50292" cy="171907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1463040"/>
            <a:ext cx="5138928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由电磁功率推出电磁转矩</a:t>
            </a:r>
          </a:p>
        </p:txBody>
      </p:sp>
      <p:pic>
        <p:nvPicPr>
          <p:cNvPr id="24" name="Picture 23" descr="torque_deri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0863" y="1700784"/>
            <a:ext cx="1914209" cy="98755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73952" y="2724912"/>
            <a:ext cx="4773168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900" b="0">
                <a:solidFill>
                  <a:srgbClr val="677285"/>
                </a:solidFill>
                <a:latin typeface="微软雅黑"/>
              </a:defRPr>
            </a:pPr>
            <a:r>
              <a:t>ωe=pωm，故从电磁功率除以机械角速度得到轴上电磁转矩 Te。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337560"/>
            <a:ext cx="6583680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337560"/>
            <a:ext cx="50292" cy="166420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429000"/>
            <a:ext cx="6309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Te 原始式与永磁/磁阻转矩项</a:t>
            </a:r>
          </a:p>
        </p:txBody>
      </p:sp>
      <p:pic>
        <p:nvPicPr>
          <p:cNvPr id="29" name="Picture 28" descr="torq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6860" y="3639312"/>
            <a:ext cx="1624942" cy="9692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04672" y="4645152"/>
            <a:ext cx="59893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900" b="0">
                <a:solidFill>
                  <a:srgbClr val="C93A3A"/>
                </a:solidFill>
                <a:latin typeface="微软雅黑"/>
              </a:defRPr>
            </a:pPr>
            <a:r>
              <a:t>ψ_f i_q 为永磁转矩项；(L_d−L_q)i_d i_q 为磁阻转矩项。IPMSM 中 Ld&lt;Lq，取 id&lt;0 可使磁阻转矩为正。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88352" y="3337560"/>
            <a:ext cx="4224528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88352" y="3337560"/>
            <a:ext cx="50292" cy="166420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71231" y="3429000"/>
            <a:ext cx="3950208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约束与弱磁入口</a:t>
            </a:r>
          </a:p>
        </p:txBody>
      </p:sp>
      <p:pic>
        <p:nvPicPr>
          <p:cNvPr id="34" name="Picture 33" descr="limi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4383" y="3798598"/>
            <a:ext cx="3712463" cy="19349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644383" y="4224528"/>
            <a:ext cx="3611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1A1F2B"/>
                </a:solidFill>
                <a:latin typeface="微软雅黑"/>
              </a:defRPr>
            </a:pPr>
            <a:r>
              <a:t>电流圆限制最大铜耗/电流能力。</a:t>
            </a:r>
          </a:p>
          <a:p>
            <a:pPr>
              <a:spcAft>
                <a:spcPts val="100"/>
              </a:spcAft>
              <a:defRPr sz="900">
                <a:solidFill>
                  <a:srgbClr val="1A1F2B"/>
                </a:solidFill>
                <a:latin typeface="微软雅黑"/>
              </a:defRPr>
            </a:pPr>
            <a:r>
              <a:t>电压圆限制高速可用电压；E₀=ωeψf 增大后需弱磁。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230368"/>
            <a:ext cx="11109960" cy="493776"/>
          </a:xfrm>
          <a:prstGeom prst="rect">
            <a:avLst/>
          </a:prstGeom>
          <a:solidFill>
            <a:srgbClr val="EAF2FA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230368"/>
            <a:ext cx="50292" cy="493776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376672"/>
            <a:ext cx="106984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940" b="1">
                <a:solidFill>
                  <a:srgbClr val="1A1F2B"/>
                </a:solidFill>
                <a:latin typeface="微软雅黑"/>
              </a:defRPr>
            </a:pPr>
            <a:r>
              <a:t>逻辑关系：abc 交流量经 Clark/Park 直流化；P/Q 和 Te 公式建立功率—转矩关系；MTPA 在电流约束内选择 id*、iq*；反 Park 与 SVPWM 将电压指令落实到占空比。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C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"/>
            <a:ext cx="1737360" cy="4801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39112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83864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坐标变换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28616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数学模型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3368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控制链路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19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公式推导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35440" y="0"/>
            <a:ext cx="1444752" cy="71323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2872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Hall换相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07624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SVPWM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923544"/>
            <a:ext cx="73152" cy="420624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832104"/>
            <a:ext cx="1069848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1A1F2B"/>
                </a:solidFill>
                <a:latin typeface="微软雅黑"/>
              </a:defRPr>
            </a:pPr>
            <a:r>
              <a:t>Hall ABC 换相顺序与 SVPWM 扇区关系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923544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100" b="1">
                <a:solidFill>
                  <a:srgbClr val="004A8F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371600"/>
            <a:ext cx="6995160" cy="2816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1371600"/>
            <a:ext cx="50292" cy="281635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1463040"/>
            <a:ext cx="67208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Hall 信号与反电势零交越</a:t>
            </a:r>
          </a:p>
        </p:txBody>
      </p:sp>
      <p:pic>
        <p:nvPicPr>
          <p:cNvPr id="19" name="Picture 18" descr="hall_wavefor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99" y="1664208"/>
            <a:ext cx="6461457" cy="19933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6384" y="3685032"/>
            <a:ext cx="629107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930">
                <a:solidFill>
                  <a:srgbClr val="1A1F2B"/>
                </a:solidFill>
                <a:latin typeface="微软雅黑"/>
              </a:defRPr>
            </a:pPr>
            <a:r>
              <a:t>Hall 信号给出反电势位置的逻辑指示，每 60° 电角度发生一次状态变化。</a:t>
            </a:r>
          </a:p>
          <a:p>
            <a:pPr>
              <a:spcAft>
                <a:spcPts val="100"/>
              </a:spcAft>
              <a:defRPr sz="930">
                <a:solidFill>
                  <a:srgbClr val="1A1F2B"/>
                </a:solidFill>
                <a:latin typeface="微软雅黑"/>
              </a:defRPr>
            </a:pPr>
            <a:r>
              <a:t>图中采用梯形波/六步换相表达；正弦波 FOC/SVPWM 的扇区顺序仍按同一 Hall 状态循环。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1371600"/>
            <a:ext cx="3886200" cy="2816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26679" y="1371600"/>
            <a:ext cx="50292" cy="281635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59" y="1463040"/>
            <a:ext cx="36118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Hall ABC 状态表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936992" y="1755648"/>
          <a:ext cx="3438144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8"/>
                <a:gridCol w="713232"/>
                <a:gridCol w="694944"/>
                <a:gridCol w="1280160"/>
              </a:tblGrid>
              <a:tr h="249174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电角度</a:t>
                      </a:r>
                    </a:p>
                  </a:txBody>
                  <a:tcPr marL="27432" marR="27432" marT="18288" marB="18288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Hall ABC</a:t>
                      </a:r>
                    </a:p>
                  </a:txBody>
                  <a:tcPr marL="27432" marR="27432" marT="18288" marB="18288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空间矢量</a:t>
                      </a:r>
                    </a:p>
                  </a:txBody>
                  <a:tcPr marL="27432" marR="27432" marT="18288" marB="18288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 marL="27432" marR="27432" marT="18288" marB="18288">
                    <a:solidFill>
                      <a:srgbClr val="004A8F"/>
                    </a:solidFill>
                  </a:tcPr>
                </a:tc>
              </a:tr>
              <a:tr h="249174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0°-60°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100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V1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有效矢量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249174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60°-120°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110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V2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有效矢量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249174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120°-180°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010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V3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有效矢量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249174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180°-240°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011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V4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有效矢量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249174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240°-300°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001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V5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有效矢量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249174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300°-360°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101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V6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有效矢量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249174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任意</a:t>
                      </a:r>
                    </a:p>
                  </a:txBody>
                  <a:tcPr marL="27432" marR="2743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000/111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V0/V7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零矢量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502920" y="4462272"/>
            <a:ext cx="5440680" cy="1024128"/>
          </a:xfrm>
          <a:prstGeom prst="rect">
            <a:avLst/>
          </a:prstGeom>
          <a:solidFill>
            <a:srgbClr val="F3F8FC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462272"/>
            <a:ext cx="50292" cy="102412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553712"/>
            <a:ext cx="5166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从 Hall 到开关/扇区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4736592"/>
            <a:ext cx="484632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850">
                <a:solidFill>
                  <a:srgbClr val="1A1F2B"/>
                </a:solidFill>
                <a:latin typeface="微软雅黑"/>
              </a:defRPr>
            </a:pPr>
            <a:r>
              <a:t>六步控制：Hall ABC 直接解码为上、下桥臂导通组合。</a:t>
            </a:r>
          </a:p>
          <a:p>
            <a:pPr>
              <a:spcAft>
                <a:spcPts val="100"/>
              </a:spcAft>
              <a:defRPr sz="850">
                <a:solidFill>
                  <a:srgbClr val="1A1F2B"/>
                </a:solidFill>
                <a:latin typeface="微软雅黑"/>
              </a:defRPr>
            </a:pPr>
            <a:r>
              <a:t>SVPWM/FOC：Hall 状态常用于粗略电角度、扇区判断或启动定位。</a:t>
            </a:r>
          </a:p>
          <a:p>
            <a:pPr>
              <a:spcAft>
                <a:spcPts val="100"/>
              </a:spcAft>
              <a:defRPr sz="850">
                <a:solidFill>
                  <a:srgbClr val="1A1F2B"/>
                </a:solidFill>
                <a:latin typeface="微软雅黑"/>
              </a:defRPr>
            </a:pPr>
            <a:r>
              <a:t>000、111 不提供有效方向信息，对应零矢量或非法/停机状态，不能作为有效换相扇区。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462272"/>
            <a:ext cx="5394960" cy="1024128"/>
          </a:xfrm>
          <a:prstGeom prst="rect">
            <a:avLst/>
          </a:prstGeom>
          <a:solidFill>
            <a:srgbClr val="F3F8FC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462272"/>
            <a:ext cx="50292" cy="102412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553712"/>
            <a:ext cx="5120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客观说明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736592"/>
            <a:ext cx="475488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850">
                <a:solidFill>
                  <a:srgbClr val="C93A3A"/>
                </a:solidFill>
                <a:latin typeface="微软雅黑"/>
              </a:defRPr>
            </a:pPr>
            <a:r>
              <a:t>表中顺序按你给的图从 0° 开始读取；实际硬件可能因 Hall 安装极性、相序定义而循环平移或反向。</a:t>
            </a:r>
          </a:p>
          <a:p>
            <a:pPr>
              <a:spcAft>
                <a:spcPts val="100"/>
              </a:spcAft>
              <a:defRPr sz="850">
                <a:solidFill>
                  <a:srgbClr val="C93A3A"/>
                </a:solidFill>
                <a:latin typeface="微软雅黑"/>
              </a:defRPr>
            </a:pPr>
            <a:r>
              <a:t>因此工程上应以实测相序校准表为准，PPT 中强调的是“换相状态循环顺序”这一规律。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C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"/>
            <a:ext cx="1737360" cy="4801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39112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83864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坐标变换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28616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数学模型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3368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控制链路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19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公式推导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2872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C9CFD8"/>
                </a:solidFill>
                <a:latin typeface="微软雅黑"/>
              </a:defRPr>
            </a:pPr>
            <a:r>
              <a:t>Hall换相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80192" y="0"/>
            <a:ext cx="1444752" cy="71323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07624" y="192024"/>
            <a:ext cx="138988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SVPWM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923544"/>
            <a:ext cx="73152" cy="420624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832104"/>
            <a:ext cx="1069848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1A1F2B"/>
                </a:solidFill>
                <a:latin typeface="微软雅黑"/>
              </a:defRPr>
            </a:pPr>
            <a:r>
              <a:t>SVPWM 合成电压矢量：开关表与六扇区图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923544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100" b="1">
                <a:solidFill>
                  <a:srgbClr val="004A8F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371600"/>
            <a:ext cx="7333488" cy="4315968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1371600"/>
            <a:ext cx="50292" cy="431596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1463040"/>
            <a:ext cx="7059168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源图表格截取：Sa/Sb/Sc 与 U0~U7</a:t>
            </a:r>
          </a:p>
        </p:txBody>
      </p:sp>
      <p:pic>
        <p:nvPicPr>
          <p:cNvPr id="19" name="Picture 18" descr="svpwm_tabl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37" y="1700784"/>
            <a:ext cx="6181053" cy="36393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04672" y="5376672"/>
            <a:ext cx="667512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900" b="0">
                <a:solidFill>
                  <a:srgbClr val="C93A3A"/>
                </a:solidFill>
                <a:latin typeface="微软雅黑"/>
              </a:defRPr>
            </a:pPr>
            <a:r>
              <a:t>表中 100→110→010→011→001→101 为六个有效矢量；000、111 对应 U0/U7 零矢量。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1371600"/>
            <a:ext cx="3547872" cy="2852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5008" y="1371600"/>
            <a:ext cx="50292" cy="285292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1463040"/>
            <a:ext cx="3273552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源图六扇区截取</a:t>
            </a:r>
          </a:p>
        </p:txBody>
      </p:sp>
      <p:pic>
        <p:nvPicPr>
          <p:cNvPr id="24" name="Picture 23" descr="svpwm_hexagon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603" y="1664208"/>
            <a:ext cx="2732680" cy="22402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47888" y="3867912"/>
            <a:ext cx="30175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900" b="0">
                <a:solidFill>
                  <a:srgbClr val="677285"/>
                </a:solidFill>
                <a:latin typeface="微软雅黑"/>
              </a:defRPr>
            </a:pPr>
            <a:r>
              <a:t>相邻有效矢量间隔 π/3；一个电周期被划分为 sec1~sec6。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5008" y="4443984"/>
            <a:ext cx="3547872" cy="1243584"/>
          </a:xfrm>
          <a:prstGeom prst="rect">
            <a:avLst/>
          </a:prstGeom>
          <a:solidFill>
            <a:srgbClr val="F3F8FC"/>
          </a:solidFill>
          <a:ln w="1016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5008" y="4443984"/>
            <a:ext cx="50292" cy="1243584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4535424"/>
            <a:ext cx="3273552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1">
                <a:solidFill>
                  <a:srgbClr val="004A8F"/>
                </a:solidFill>
                <a:latin typeface="微软雅黑"/>
              </a:defRPr>
            </a:pPr>
            <a:r>
              <a:t>与控制链路的对应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736592"/>
            <a:ext cx="3017520" cy="5852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"/>
              </a:spcAft>
              <a:defRPr sz="880">
                <a:solidFill>
                  <a:srgbClr val="1A1F2B"/>
                </a:solidFill>
                <a:latin typeface="微软雅黑"/>
              </a:defRPr>
            </a:pPr>
            <a:r>
              <a:t>反 Park 得到 uα*、uβ* 后，SVPWM 判断扇区。</a:t>
            </a:r>
          </a:p>
          <a:p>
            <a:pPr>
              <a:spcAft>
                <a:spcPts val="100"/>
              </a:spcAft>
              <a:defRPr sz="880">
                <a:solidFill>
                  <a:srgbClr val="1A1F2B"/>
                </a:solidFill>
                <a:latin typeface="微软雅黑"/>
              </a:defRPr>
            </a:pPr>
            <a:r>
              <a:t>由相邻有效矢量作用时间和零矢量分配得到 Da、Db、Dc。</a:t>
            </a:r>
          </a:p>
          <a:p>
            <a:pPr>
              <a:spcAft>
                <a:spcPts val="100"/>
              </a:spcAft>
              <a:defRPr sz="880">
                <a:solidFill>
                  <a:srgbClr val="1A1F2B"/>
                </a:solidFill>
                <a:latin typeface="微软雅黑"/>
              </a:defRPr>
            </a:pPr>
            <a:r>
              <a:t>零矢量用于占空比居中和调制度调节。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