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0" y="0"/>
            <a:ext cx="1874519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3342132" y="640080"/>
            <a:ext cx="128016" cy="109728"/>
          </a:xfrm>
          <a:prstGeom prst="triangl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思路与方法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关键技术难点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41832"/>
            <a:ext cx="73152" cy="43891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9536"/>
            <a:ext cx="110642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永磁同步电机（PMSM）结构与应用概述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32688"/>
            <a:ext cx="5943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200" b="1">
                <a:solidFill>
                  <a:srgbClr val="004A8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54480"/>
            <a:ext cx="3520440" cy="242316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554480"/>
            <a:ext cx="54864" cy="242316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664207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基本结构</a:t>
            </a:r>
          </a:p>
        </p:txBody>
      </p:sp>
      <p:sp>
        <p:nvSpPr>
          <p:cNvPr id="18" name="Oval 17"/>
          <p:cNvSpPr/>
          <p:nvPr/>
        </p:nvSpPr>
        <p:spPr>
          <a:xfrm>
            <a:off x="1389887" y="1837943"/>
            <a:ext cx="1426464" cy="1426464"/>
          </a:xfrm>
          <a:prstGeom prst="ellipse">
            <a:avLst/>
          </a:prstGeom>
          <a:solidFill>
            <a:srgbClr val="EAF2F9"/>
          </a:solidFill>
          <a:ln w="19050">
            <a:solidFill>
              <a:srgbClr val="00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82495" y="2130552"/>
            <a:ext cx="841248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D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74519" y="2322576"/>
            <a:ext cx="457200" cy="457200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56815" y="1655064"/>
            <a:ext cx="310896" cy="182880"/>
          </a:xfrm>
          <a:prstGeom prst="roundRect">
            <a:avLst/>
          </a:prstGeom>
          <a:solidFill>
            <a:srgbClr val="C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5" y="1664208"/>
            <a:ext cx="31089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7007" y="2578608"/>
            <a:ext cx="310896" cy="182880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7" y="2587751"/>
            <a:ext cx="31089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微软雅黑"/>
              </a:defRPr>
            </a:pPr>
            <a:r>
              <a:t>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06624" y="2578608"/>
            <a:ext cx="310896" cy="182880"/>
          </a:xfrm>
          <a:prstGeom prst="roundRect">
            <a:avLst/>
          </a:prstGeom>
          <a:solidFill>
            <a:srgbClr val="E5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6624" y="2587751"/>
            <a:ext cx="31089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微软雅黑"/>
              </a:defRPr>
            </a:pPr>
            <a: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792224"/>
            <a:ext cx="118872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19" b="1">
                <a:solidFill>
                  <a:srgbClr val="004A8F"/>
                </a:solidFill>
                <a:latin typeface="微软雅黑"/>
              </a:defRPr>
            </a:pPr>
            <a:r>
              <a:t>定子三相绕组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2322576"/>
            <a:ext cx="82296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19" b="1">
                <a:solidFill>
                  <a:srgbClr val="004A8F"/>
                </a:solidFill>
                <a:latin typeface="微软雅黑"/>
              </a:defRPr>
            </a:pPr>
            <a:r>
              <a:t>永磁转子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7752" y="2642616"/>
            <a:ext cx="6400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677285"/>
                </a:solidFill>
                <a:latin typeface="微软雅黑"/>
              </a:defRPr>
            </a:pPr>
            <a:r>
              <a:t>气隙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493008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1">
                <a:solidFill>
                  <a:srgbClr val="004A8F"/>
                </a:solidFill>
                <a:latin typeface="Cambria Math"/>
              </a:defRPr>
            </a:pPr>
            <a:r>
              <a:t>θₑ = p · θₘ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1554480"/>
            <a:ext cx="7360920" cy="242316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1554480"/>
            <a:ext cx="54864" cy="242316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1664207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SPMSM / IPMSM 分类对比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498848" y="2029968"/>
          <a:ext cx="681228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06040"/>
                <a:gridCol w="2880360"/>
              </a:tblGrid>
              <a:tr h="332841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SPMSM（表贴式）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IPMSM（内嵌式）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永磁体位置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转子表面粘贴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转子内部嵌入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磁路特性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Ld ≈ Lq，隐极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Ld &lt; Lq，凸极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磁阻转矩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无或极弱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显著，可利用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适用特点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结构简单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强度高，适合高速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502920" y="4206240"/>
            <a:ext cx="11109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206240"/>
            <a:ext cx="54864" cy="157276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315968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应用与控制铺垫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636008"/>
            <a:ext cx="964692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A1F2B"/>
                </a:solidFill>
                <a:latin typeface="微软雅黑"/>
              </a:defRPr>
            </a:pPr>
            <a:r>
              <a:t>典型应用：新能源汽车驱动电机、伺服系统、工业调速和高效率家电。</a:t>
            </a:r>
          </a:p>
          <a:p>
            <a:pPr>
              <a:spcAft>
                <a:spcPts val="300"/>
              </a:spcAft>
              <a:defRPr sz="1300">
                <a:solidFill>
                  <a:srgbClr val="1A1F2B"/>
                </a:solidFill>
                <a:latin typeface="微软雅黑"/>
              </a:defRPr>
            </a:pPr>
            <a:r>
              <a:t>IPMSM 兼具永磁转矩与磁阻转矩，天然适合通过 MTPA 做最优电流分配。</a:t>
            </a:r>
          </a:p>
          <a:p>
            <a:pPr>
              <a:spcAft>
                <a:spcPts val="300"/>
              </a:spcAft>
              <a:defRPr sz="1300">
                <a:solidFill>
                  <a:srgbClr val="1A1F2B"/>
                </a:solidFill>
                <a:latin typeface="微软雅黑"/>
              </a:defRPr>
            </a:pPr>
            <a:r>
              <a:t>PMSM 由三相逆变器驱动，电压指令最终需要经 SVPWM 转换为 6 路 PWM。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4974336"/>
            <a:ext cx="1298448" cy="292608"/>
          </a:xfrm>
          <a:prstGeom prst="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12680" y="5006340"/>
            <a:ext cx="12984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MTPA + SVPWM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0" y="0"/>
            <a:ext cx="1874519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3342132" y="640080"/>
            <a:ext cx="128016" cy="109728"/>
          </a:xfrm>
          <a:prstGeom prst="triangl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思路与方法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关键技术难点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41832"/>
            <a:ext cx="73152" cy="43891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9536"/>
            <a:ext cx="110642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Clark-Park 坐标变换与功率不变性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32688"/>
            <a:ext cx="5943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200" b="1">
                <a:solidFill>
                  <a:srgbClr val="004A8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81328"/>
            <a:ext cx="11109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81328"/>
            <a:ext cx="54864" cy="7772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1627632"/>
            <a:ext cx="1691640" cy="512064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1728216"/>
            <a:ext cx="1618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abc 三相静止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17520" y="1792224"/>
            <a:ext cx="566928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1960" y="1627632"/>
            <a:ext cx="1691640" cy="512064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1728216"/>
            <a:ext cx="1618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αβ 两相静止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26479" y="1792224"/>
            <a:ext cx="566928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1627632"/>
            <a:ext cx="1691640" cy="512064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1728216"/>
            <a:ext cx="1618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dq 同步旋转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42032"/>
            <a:ext cx="3337560" cy="324612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542032"/>
            <a:ext cx="54864" cy="32461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651760"/>
            <a:ext cx="3017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为什么要变换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980944"/>
            <a:ext cx="2788920" cy="2331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F2B"/>
                </a:solidFill>
                <a:latin typeface="微软雅黑"/>
              </a:defRPr>
            </a:pPr>
            <a:r>
              <a:t>abc 坐标中电压/电流随时间变化，控制耦合明显。</a:t>
            </a:r>
          </a:p>
          <a:p>
            <a:pPr>
              <a:spcAft>
                <a:spcPts val="400"/>
              </a:spcAft>
              <a:defRPr sz="1200">
                <a:solidFill>
                  <a:srgbClr val="1A1F2B"/>
                </a:solidFill>
                <a:latin typeface="微软雅黑"/>
              </a:defRPr>
            </a:pPr>
            <a:r>
              <a:t>Clark：三相量投影到 αβ 静止平面。</a:t>
            </a:r>
          </a:p>
          <a:p>
            <a:pPr>
              <a:spcAft>
                <a:spcPts val="400"/>
              </a:spcAft>
              <a:defRPr sz="1200">
                <a:solidFill>
                  <a:srgbClr val="1A1F2B"/>
                </a:solidFill>
                <a:latin typeface="微软雅黑"/>
              </a:defRPr>
            </a:pPr>
            <a:r>
              <a:t>Park：αβ 随 θₑ 旋转到 dq 坐标。</a:t>
            </a:r>
          </a:p>
          <a:p>
            <a:pPr>
              <a:spcAft>
                <a:spcPts val="400"/>
              </a:spcAft>
              <a:defRPr sz="1200">
                <a:solidFill>
                  <a:srgbClr val="1A1F2B"/>
                </a:solidFill>
                <a:latin typeface="微软雅黑"/>
              </a:defRPr>
            </a:pPr>
            <a:r>
              <a:t>dq 变量近似直流，PI 控制可行。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2542032"/>
            <a:ext cx="3611880" cy="324612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9080" y="2542032"/>
            <a:ext cx="54864" cy="32461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651760"/>
            <a:ext cx="3291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Clark 变换（幅值不变）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2953512"/>
            <a:ext cx="3154680" cy="2423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10" b="0">
                <a:solidFill>
                  <a:srgbClr val="1A1F2B"/>
                </a:solidFill>
                <a:latin typeface="Cambria Math"/>
              </a:defRPr>
            </a:pPr>
            <a:r>
              <a:t>[α]     2 [ 1    -1/2    -1/2 ][a]</a:t>
            </a:r>
            <a:br/>
            <a:r>
              <a:t>[β]  =  - [ 0    √3/2  -√3/2 ][b]</a:t>
            </a:r>
            <a:br/>
            <a:r>
              <a:t>[0]     3 [1/2   1/2     1/2 ][c]</a:t>
            </a:r>
            <a:br/>
            <a:br/>
            <a:r>
              <a:t>反变换：</a:t>
            </a:r>
            <a:br/>
            <a:r>
              <a:t>[a]   [  1       0      1 ][α]</a:t>
            </a:r>
            <a:br/>
            <a:r>
              <a:t>[b] = [ -1/2   √3/2   1 ][β]</a:t>
            </a:r>
            <a:br/>
            <a:r>
              <a:t>[c]   [ -1/2  -√3/2   1 ][0]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542032"/>
            <a:ext cx="3703320" cy="324612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9560" y="2542032"/>
            <a:ext cx="54864" cy="32461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651760"/>
            <a:ext cx="33832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Park 变换与功率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2962656"/>
            <a:ext cx="3182112" cy="2331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50" b="0">
                <a:solidFill>
                  <a:srgbClr val="1A1F2B"/>
                </a:solidFill>
                <a:latin typeface="Cambria Math"/>
              </a:defRPr>
            </a:pPr>
            <a:r>
              <a:t>[d]   [ cosθₑ   sinθₑ ][α]</a:t>
            </a:r>
            <a:br/>
            <a:r>
              <a:t>[q] = [-sinθₑ   cosθₑ ][β]</a:t>
            </a:r>
            <a:br/>
            <a:br/>
            <a:r>
              <a:t>[α]   [ cosθₑ  -sinθₑ ][d]</a:t>
            </a:r>
            <a:br/>
            <a:r>
              <a:t>[β] = [ sinθₑ   cosθₑ ][q]</a:t>
            </a:r>
            <a:br/>
            <a:br/>
            <a:r>
              <a:t>p = 3/2 · (u_d i_d + u_q i_q)</a:t>
            </a:r>
            <a:br/>
            <a:r>
              <a:t>S = 3/2 · u_s · i_s*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0" y="0"/>
            <a:ext cx="1874519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3342132" y="640080"/>
            <a:ext cx="128016" cy="109728"/>
          </a:xfrm>
          <a:prstGeom prst="triangl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思路与方法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关键技术难点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41832"/>
            <a:ext cx="73152" cy="43891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9536"/>
            <a:ext cx="110642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PMSM dq 轴数学模型与物理含义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32688"/>
            <a:ext cx="5943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200" b="1">
                <a:solidFill>
                  <a:srgbClr val="004A8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54480"/>
            <a:ext cx="5897880" cy="214884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554480"/>
            <a:ext cx="54864" cy="21488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664207"/>
            <a:ext cx="5577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dq 轴电压方程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1984248"/>
            <a:ext cx="53492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1A1F2B"/>
                </a:solidFill>
                <a:latin typeface="Cambria Math"/>
              </a:defRPr>
            </a:pPr>
            <a:r>
              <a:t>u_d = R_s i_d + L_d · d i_d/dt  −  ωₑ L_q i_q</a:t>
            </a:r>
            <a:br/>
            <a:r>
              <a:t>u_q = R_s i_q + L_q · d i_q/dt  +  ωₑ(L_d i_d + ψ_f)</a:t>
            </a:r>
            <a:br/>
            <a:br/>
            <a:r>
              <a:t>ψ_d = L_d i_d + ψ_f,    ψ_q = L_q i_q</a:t>
            </a:r>
            <a:br/>
            <a:r>
              <a:t>E₀ = ωₑ · ψ_f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1729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C93A3A"/>
                </a:solidFill>
                <a:latin typeface="微软雅黑"/>
              </a:rPr>
              <a:t>红色项：</a:t>
            </a:r>
            <a:r>
              <a:rPr sz="1150" b="0">
                <a:solidFill>
                  <a:srgbClr val="1A1F2B"/>
                </a:solidFill>
                <a:latin typeface="微软雅黑"/>
              </a:rPr>
              <a:t>交叉耦合与反电动势，转速越高越明显。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554480"/>
            <a:ext cx="4937760" cy="2148840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554480"/>
            <a:ext cx="54864" cy="214884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664207"/>
            <a:ext cx="46177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为什么需要前馈解耦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1993392"/>
            <a:ext cx="4297680" cy="12161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A1F2B"/>
                </a:solidFill>
                <a:latin typeface="微软雅黑"/>
              </a:defRPr>
            </a:pPr>
            <a:r>
              <a:t>−ωₑψ_q 串入 d 轴，+ωₑψ_d 串入 q 轴。</a:t>
            </a:r>
          </a:p>
          <a:p>
            <a:pPr>
              <a:spcAft>
                <a:spcPts val="400"/>
              </a:spcAft>
              <a:defRPr sz="1220">
                <a:solidFill>
                  <a:srgbClr val="1A1F2B"/>
                </a:solidFill>
                <a:latin typeface="微软雅黑"/>
              </a:defRPr>
            </a:pPr>
            <a:r>
              <a:t>不补偿时 d/q 电流环相互干扰，高速下更明显。</a:t>
            </a:r>
          </a:p>
          <a:p>
            <a:pPr>
              <a:spcAft>
                <a:spcPts val="400"/>
              </a:spcAft>
              <a:defRPr sz="1220">
                <a:solidFill>
                  <a:srgbClr val="1A1F2B"/>
                </a:solidFill>
                <a:latin typeface="微软雅黑"/>
              </a:defRPr>
            </a:pPr>
            <a:r>
              <a:t>工程实现：PI 输出叠加前馈解耦项，抵消交叉耦合。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236976"/>
            <a:ext cx="40690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C93A3A"/>
                </a:solidFill>
                <a:latin typeface="微软雅黑"/>
              </a:defRPr>
            </a:pPr>
            <a:r>
              <a:t>补偿目标：让 d/q 两轴近似独立整定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68496"/>
            <a:ext cx="6446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68496"/>
            <a:ext cx="54864" cy="175564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078224"/>
            <a:ext cx="6126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电磁转矩方程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580644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20" b="0">
                <a:solidFill>
                  <a:srgbClr val="1A1F2B"/>
                </a:solidFill>
                <a:latin typeface="Cambria Math"/>
              </a:defRPr>
            </a:pPr>
            <a:r>
              <a:t>Tₑ = 3/2 · p · (ψ_d i_q − ψ_q i_d)</a:t>
            </a:r>
            <a:br/>
            <a:r>
              <a:t>   = 3/2 · p · [ ψ_f i_q + (L_d − L_q) i_d i_q ]</a:t>
            </a:r>
            <a:br/>
            <a:r>
              <a:t>      永磁转矩              磁阻转矩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230368"/>
            <a:ext cx="283464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004A8F"/>
                </a:solidFill>
                <a:latin typeface="Cambria Math"/>
              </a:defRPr>
            </a:pPr>
            <a:r>
              <a:t>Pe = Tₑ · ωₘ = Tₑ · ωₑ / 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968496"/>
            <a:ext cx="44348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3968496"/>
            <a:ext cx="54864" cy="175564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19" y="4078224"/>
            <a:ext cx="4114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SPMSM / IPMSM 差异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4416552"/>
            <a:ext cx="3858768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  <a:defRPr sz="1080">
                <a:solidFill>
                  <a:srgbClr val="1A1F2B"/>
                </a:solidFill>
                <a:latin typeface="微软雅黑"/>
              </a:defRPr>
            </a:pPr>
            <a:r>
              <a:t>SPMSM：Ld≈Lq，Te≈1.5pψ_f i_q。</a:t>
            </a:r>
          </a:p>
          <a:p>
            <a:pPr>
              <a:spcAft>
                <a:spcPts val="200"/>
              </a:spcAft>
              <a:defRPr sz="1080">
                <a:solidFill>
                  <a:srgbClr val="1A1F2B"/>
                </a:solidFill>
                <a:latin typeface="微软雅黑"/>
              </a:defRPr>
            </a:pPr>
            <a:r>
              <a:t>IPMSM：Ld&lt;Lq，存在可利用的磁阻转矩。</a:t>
            </a:r>
          </a:p>
          <a:p>
            <a:pPr>
              <a:spcAft>
                <a:spcPts val="200"/>
              </a:spcAft>
              <a:defRPr sz="1080">
                <a:solidFill>
                  <a:srgbClr val="1A1F2B"/>
                </a:solidFill>
                <a:latin typeface="微软雅黑"/>
              </a:defRPr>
            </a:pPr>
            <a:r>
              <a:t>要让磁阻转矩为正，通常需要 i_d&lt;0，这就是 MTPA 的关键依据。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0" y="0"/>
            <a:ext cx="1874519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3342132" y="640080"/>
            <a:ext cx="128016" cy="109728"/>
          </a:xfrm>
          <a:prstGeom prst="triangl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思路与方法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关键技术难点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41832"/>
            <a:ext cx="73152" cy="43891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9536"/>
            <a:ext cx="110642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控制架构：MTPA → 电流环 → 解耦补偿 → 反变换 → SVPWM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32688"/>
            <a:ext cx="5943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200" b="1">
                <a:solidFill>
                  <a:srgbClr val="004A8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44752"/>
            <a:ext cx="1110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44752"/>
            <a:ext cx="54864" cy="14173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554480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完整信号流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1892807"/>
            <a:ext cx="804672" cy="512064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93391"/>
            <a:ext cx="731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Te* / Is*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627632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20240" y="1892807"/>
            <a:ext cx="896112" cy="512064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6" y="1993391"/>
            <a:ext cx="822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MTPA</a:t>
            </a:r>
            <a:br/>
            <a:r>
              <a:t>查表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889504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54680" y="1892807"/>
            <a:ext cx="804672" cy="512064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1993391"/>
            <a:ext cx="731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id*, iq*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32504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5968" y="1892807"/>
            <a:ext cx="804672" cy="512064"/>
          </a:xfrm>
          <a:prstGeom prst="roundRect">
            <a:avLst/>
          </a:prstGeom>
          <a:solidFill>
            <a:srgbClr val="E5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2544" y="1993391"/>
            <a:ext cx="731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d/q PI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193792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40680" y="1892807"/>
            <a:ext cx="896112" cy="512064"/>
          </a:xfrm>
          <a:prstGeom prst="roundRect">
            <a:avLst/>
          </a:prstGeom>
          <a:solidFill>
            <a:srgbClr val="E5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1993391"/>
            <a:ext cx="822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前馈</a:t>
            </a:r>
            <a:br/>
            <a:r>
              <a:t>解耦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409944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1892807"/>
            <a:ext cx="804672" cy="512064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0256" y="1993391"/>
            <a:ext cx="731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反 Park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61504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18120" y="1892807"/>
            <a:ext cx="804672" cy="512064"/>
          </a:xfrm>
          <a:prstGeom prst="roundRect">
            <a:avLst/>
          </a:prstGeom>
          <a:solidFill>
            <a:srgbClr val="19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4696" y="1993391"/>
            <a:ext cx="731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SVPWM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95944" y="2057400"/>
            <a:ext cx="256032" cy="182880"/>
          </a:xfrm>
          <a:prstGeom prst="rightArrow">
            <a:avLst/>
          </a:prstGeom>
          <a:solidFill>
            <a:srgbClr val="9BA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98280" y="1892807"/>
            <a:ext cx="896112" cy="512064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34855" y="1993391"/>
            <a:ext cx="822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</a:defRPr>
            </a:pPr>
            <a:r>
              <a:t>逆变器</a:t>
            </a:r>
            <a:br/>
            <a:r>
              <a:t>PMSM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154680"/>
            <a:ext cx="6903720" cy="2578608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154680"/>
            <a:ext cx="54864" cy="25786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264408"/>
            <a:ext cx="6583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各环节作用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758952" y="3611880"/>
          <a:ext cx="640080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00200"/>
                <a:gridCol w="1508760"/>
                <a:gridCol w="2377440"/>
              </a:tblGrid>
              <a:tr h="286512"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环节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输入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输出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MTPA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Te* / Is*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id*, iq*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最小铜耗或最大转矩电流分配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电流 PI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电流误差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u_d0*, u_q0*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跟踪 d/q 电流给定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前馈解耦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PI 输出 + 耦合项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u_d*, u_q*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抵消交叉耦合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反 Park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u_d*, u_q*, θₑ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u_α*, u_β*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回到静止坐标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algn="ctr">
                        <a:defRPr sz="76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SVPWM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u_α*, u_β*, Udc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6 路 PWM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6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提高直流母线利用率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7635240" y="3154680"/>
            <a:ext cx="3977639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35240" y="3154680"/>
            <a:ext cx="54864" cy="2578608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19" y="3264408"/>
            <a:ext cx="365759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解耦补偿公式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675887"/>
            <a:ext cx="33375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50" b="0">
                <a:solidFill>
                  <a:srgbClr val="1A1F2B"/>
                </a:solidFill>
                <a:latin typeface="Cambria Math"/>
              </a:defRPr>
            </a:pPr>
            <a:r>
              <a:t>u_d* = u_d0* + ωₑ L_q i_q</a:t>
            </a:r>
            <a:br/>
            <a:r>
              <a:t>u_q* = u_q0* − ωₑ(L_d i_d + ψ_f)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416552"/>
            <a:ext cx="33375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A1F2B"/>
                </a:solidFill>
                <a:latin typeface="微软雅黑"/>
              </a:defRPr>
            </a:pPr>
            <a:r>
              <a:t>Clark-Park：交流控制 → 直流 PI 控制</a:t>
            </a:r>
          </a:p>
          <a:p>
            <a:pPr>
              <a:spcAft>
                <a:spcPts val="200"/>
              </a:spcAft>
              <a:defRPr sz="1100">
                <a:solidFill>
                  <a:srgbClr val="1A1F2B"/>
                </a:solidFill>
                <a:latin typeface="微软雅黑"/>
              </a:defRPr>
            </a:pPr>
            <a:r>
              <a:t>转矩方程：Te* → id*, iq*</a:t>
            </a:r>
          </a:p>
          <a:p>
            <a:pPr>
              <a:spcAft>
                <a:spcPts val="200"/>
              </a:spcAft>
              <a:defRPr sz="1100">
                <a:solidFill>
                  <a:srgbClr val="1A1F2B"/>
                </a:solidFill>
                <a:latin typeface="微软雅黑"/>
              </a:defRPr>
            </a:pPr>
            <a:r>
              <a:t>反 Park + SVPWM：dq 电压指令 → 物理 PWM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C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"/>
            <a:ext cx="1737360" cy="480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0" y="0"/>
            <a:ext cx="1874519" cy="71323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3342132" y="640080"/>
            <a:ext cx="128016" cy="109728"/>
          </a:xfrm>
          <a:prstGeom prst="triangl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思路与方法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关键技术难点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783079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C9CFD8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941832"/>
            <a:ext cx="73152" cy="43891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859536"/>
            <a:ext cx="110642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1A1F2B"/>
                </a:solidFill>
                <a:latin typeface="微软雅黑"/>
              </a:defRPr>
            </a:pPr>
            <a:r>
              <a:t>核心公式汇总与后续关系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932688"/>
            <a:ext cx="5943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200" b="1">
                <a:solidFill>
                  <a:srgbClr val="004A8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81328"/>
            <a:ext cx="31821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81328"/>
            <a:ext cx="54864" cy="13716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591056"/>
            <a:ext cx="286207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坐标与角度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011680"/>
            <a:ext cx="2770632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1A1F2B"/>
                </a:solidFill>
                <a:latin typeface="Cambria Math"/>
              </a:defRPr>
            </a:pPr>
            <a:r>
              <a:t>θₑ = p · θₘ</a:t>
            </a:r>
            <a:br/>
            <a:r>
              <a:t>ωₑ = p · ωₘ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1481328"/>
            <a:ext cx="31821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58768" y="1481328"/>
            <a:ext cx="54864" cy="13716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1591056"/>
            <a:ext cx="286207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功率关系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2011680"/>
            <a:ext cx="2770632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1A1F2B"/>
                </a:solidFill>
                <a:latin typeface="Cambria Math"/>
              </a:defRPr>
            </a:pPr>
            <a:r>
              <a:t>P = 3/2 · (u_d i_d + u_q i_q)</a:t>
            </a:r>
            <a:br/>
            <a:r>
              <a:t>S = 3/2 · u_s · i_s*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63240"/>
            <a:ext cx="31821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063240"/>
            <a:ext cx="54864" cy="13716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72968"/>
            <a:ext cx="286207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电压模型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93592"/>
            <a:ext cx="2770632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80" b="0">
                <a:solidFill>
                  <a:srgbClr val="1A1F2B"/>
                </a:solidFill>
                <a:latin typeface="Cambria Math"/>
              </a:defRPr>
            </a:pPr>
            <a:r>
              <a:t>u_d = R_s i_d + L_d d i_d/dt − ωₑL_qi_q</a:t>
            </a:r>
            <a:br/>
            <a:r>
              <a:t>u_q = R_s i_q + L_q d i_q/dt + ωₑ(L_di_d+ψ_f)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58768" y="3063240"/>
            <a:ext cx="31821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58768" y="3063240"/>
            <a:ext cx="54864" cy="137160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1648" y="3172968"/>
            <a:ext cx="286207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转矩与反电动势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8" y="3593592"/>
            <a:ext cx="2770632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1A1F2B"/>
                </a:solidFill>
                <a:latin typeface="Cambria Math"/>
              </a:defRPr>
            </a:pPr>
            <a:r>
              <a:t>Tₑ = 3/2·p·[ψ_f i_q +(L_d−L_q)i_di_q]</a:t>
            </a:r>
            <a:br/>
            <a:r>
              <a:t>E₀ = ωₑ · ψ_f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1481328"/>
            <a:ext cx="4343400" cy="2953512"/>
          </a:xfrm>
          <a:prstGeom prst="rect">
            <a:avLst/>
          </a:prstGeom>
          <a:solidFill>
            <a:srgbClr val="F3F8FC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80" y="1481328"/>
            <a:ext cx="54864" cy="2953512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1591056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004A8F"/>
                </a:solidFill>
                <a:latin typeface="微软雅黑"/>
              </a:defRPr>
            </a:pPr>
            <a:r>
              <a:t>4 页内容与后续衔接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498079" y="1920240"/>
          <a:ext cx="3886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8872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页码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主题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后续作用</a:t>
                      </a:r>
                    </a:p>
                  </a:txBody>
                  <a:tcPr marL="36576" marR="36576" marT="27432" marB="27432">
                    <a:solidFill>
                      <a:srgbClr val="004A8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结构与分类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解释为何 IPMSM 适合 MTPA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Clark-Park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建立 dq / αβ 控制坐标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P3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dq 模型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推导转矩、补偿与弱磁边界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04A8F"/>
                          </a:solidFill>
                          <a:latin typeface="微软雅黑"/>
                        </a:defRPr>
                      </a:pPr>
                      <a:r>
                        <a:t>P4</a:t>
                      </a:r>
                    </a:p>
                  </a:txBody>
                  <a:tcPr marL="36576" marR="36576" marT="27432" marB="27432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控制链路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1A1F2B"/>
                          </a:solidFill>
                          <a:latin typeface="微软雅黑"/>
                        </a:defRPr>
                      </a:pPr>
                      <a:r>
                        <a:t>形成 MTPA → SVPWM 完整实现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7269480" y="4617720"/>
            <a:ext cx="4343400" cy="960120"/>
          </a:xfrm>
          <a:prstGeom prst="rect">
            <a:avLst/>
          </a:prstGeom>
          <a:solidFill>
            <a:srgbClr val="EAF2FA"/>
          </a:solidFill>
          <a:ln w="12700">
            <a:solidFill>
              <a:srgbClr val="D4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4617720"/>
            <a:ext cx="54864" cy="960120"/>
          </a:xfrm>
          <a:prstGeom prst="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8" y="4828032"/>
            <a:ext cx="3886200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20" b="0">
                <a:solidFill>
                  <a:srgbClr val="1A1F2B"/>
                </a:solidFill>
                <a:latin typeface="微软雅黑"/>
              </a:defRPr>
            </a:pPr>
            <a:r>
              <a:t>关键结论：IPMSM 中 Ld&lt;Lq，通常取 i_d&lt;0 才能获得正磁阻转矩；Udc 限制决定 SVPWM 线性调制区与弱磁起点。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